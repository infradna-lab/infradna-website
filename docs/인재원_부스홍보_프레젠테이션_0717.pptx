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FDE53C"/>
          </p15:clr>
        </p15:guide>
        <p15:guide id="2" pos="1368" userDrawn="1">
          <p15:clr>
            <a:srgbClr val="A4A3A4"/>
          </p15:clr>
        </p15:guide>
        <p15:guide id="3" pos="393" userDrawn="1">
          <p15:clr>
            <a:srgbClr val="FDE53C"/>
          </p15:clr>
        </p15:guide>
        <p15:guide id="4" pos="7401" userDrawn="1">
          <p15:clr>
            <a:srgbClr val="FDE53C"/>
          </p15:clr>
        </p15:guide>
        <p15:guide id="5" orient="horz" pos="640" userDrawn="1">
          <p15:clr>
            <a:srgbClr val="FDE53C"/>
          </p15:clr>
        </p15:guide>
        <p15:guide id="6" orient="horz" pos="2260" userDrawn="1">
          <p15:clr>
            <a:srgbClr val="A4A3A4"/>
          </p15:clr>
        </p15:guide>
        <p15:guide id="7" orient="horz" pos="1071" userDrawn="1">
          <p15:clr>
            <a:srgbClr val="5ACBF0"/>
          </p15:clr>
        </p15:guide>
        <p15:guide id="8" pos="41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0D323A"/>
    <a:srgbClr val="B16B31"/>
    <a:srgbClr val="2E7A68"/>
    <a:srgbClr val="5C93A6"/>
    <a:srgbClr val="3E97A6"/>
    <a:srgbClr val="C97D3E"/>
    <a:srgbClr val="DDE7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1368" y="176"/>
      </p:cViewPr>
      <p:guideLst>
        <p:guide orient="horz" pos="3974"/>
        <p:guide pos="1368"/>
        <p:guide pos="393"/>
        <p:guide pos="7401"/>
        <p:guide orient="horz" pos="640"/>
        <p:guide orient="horz" pos="2260"/>
        <p:guide orient="horz" pos="1071"/>
        <p:guide pos="41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F7C6C-C468-423E-B8E4-CA15112B4DB4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B778D-7B72-48B9-BE3B-CAFFAC04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11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B778D-7B72-48B9-BE3B-CAFFAC04828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59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03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14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716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43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94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38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75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6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57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67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4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6CE4D-9CE0-4B38-98F9-516883B090DC}" type="datetimeFigureOut">
              <a:rPr lang="ko-KR" altLang="en-US" smtClean="0"/>
              <a:t>2026. 7. 18.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8CE1B-B928-4A5D-9014-5BEE9DA3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64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sv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래픽 13">
            <a:extLst>
              <a:ext uri="{FF2B5EF4-FFF2-40B4-BE49-F238E27FC236}">
                <a16:creationId xmlns:a16="http://schemas.microsoft.com/office/drawing/2014/main" id="{3F67B471-B2BA-704A-F390-78CC2C8DDB76}"/>
              </a:ext>
            </a:extLst>
          </p:cNvPr>
          <p:cNvSpPr>
            <a:spLocks/>
          </p:cNvSpPr>
          <p:nvPr/>
        </p:nvSpPr>
        <p:spPr>
          <a:xfrm>
            <a:off x="0" y="2184400"/>
            <a:ext cx="4953000" cy="4667641"/>
          </a:xfrm>
          <a:custGeom>
            <a:avLst/>
            <a:gdLst>
              <a:gd name="csX0" fmla="*/ 6312519 w 6312518"/>
              <a:gd name="csY0" fmla="*/ 6345608 h 6345607"/>
              <a:gd name="csX1" fmla="*/ 6228339 w 6312518"/>
              <a:gd name="csY1" fmla="*/ 6345608 h 6345607"/>
              <a:gd name="csX2" fmla="*/ 794009 w 6312518"/>
              <a:gd name="csY2" fmla="*/ 64783 h 6345607"/>
              <a:gd name="csX3" fmla="*/ 0 w 6312518"/>
              <a:gd name="csY3" fmla="*/ 64783 h 6345607"/>
              <a:gd name="csX4" fmla="*/ 0 w 6312518"/>
              <a:gd name="csY4" fmla="*/ 0 h 6345607"/>
              <a:gd name="csX5" fmla="*/ 815688 w 6312518"/>
              <a:gd name="csY5" fmla="*/ 0 h 6345607"/>
              <a:gd name="csX6" fmla="*/ 6312519 w 6312518"/>
              <a:gd name="csY6" fmla="*/ 6345608 h 6345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312518" h="6345607">
                <a:moveTo>
                  <a:pt x="6312519" y="6345608"/>
                </a:moveTo>
                <a:lnTo>
                  <a:pt x="6228339" y="6345608"/>
                </a:lnTo>
                <a:lnTo>
                  <a:pt x="794009" y="64783"/>
                </a:lnTo>
                <a:lnTo>
                  <a:pt x="0" y="64783"/>
                </a:lnTo>
                <a:lnTo>
                  <a:pt x="0" y="0"/>
                </a:lnTo>
                <a:lnTo>
                  <a:pt x="815688" y="0"/>
                </a:lnTo>
                <a:lnTo>
                  <a:pt x="6312519" y="6345608"/>
                </a:lnTo>
                <a:close/>
              </a:path>
            </a:pathLst>
          </a:custGeom>
          <a:gradFill>
            <a:gsLst>
              <a:gs pos="0">
                <a:srgbClr val="748B90">
                  <a:alpha val="20000"/>
                  <a:lumMod val="90000"/>
                  <a:lumOff val="10000"/>
                </a:srgbClr>
              </a:gs>
              <a:gs pos="50000">
                <a:srgbClr val="446E7C">
                  <a:alpha val="20000"/>
                  <a:lumMod val="90000"/>
                  <a:lumOff val="10000"/>
                </a:srgbClr>
              </a:gs>
              <a:gs pos="100000">
                <a:srgbClr val="0D323A">
                  <a:alpha val="20000"/>
                  <a:lumMod val="90000"/>
                  <a:lumOff val="10000"/>
                </a:srgbClr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래픽 15">
            <a:extLst>
              <a:ext uri="{FF2B5EF4-FFF2-40B4-BE49-F238E27FC236}">
                <a16:creationId xmlns:a16="http://schemas.microsoft.com/office/drawing/2014/main" id="{4C59164A-7D82-3B5B-45B0-CA03C0A57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1646" y="0"/>
            <a:ext cx="5730354" cy="4830233"/>
          </a:xfrm>
          <a:prstGeom prst="rect">
            <a:avLst/>
          </a:prstGeom>
        </p:spPr>
      </p:pic>
      <p:grpSp>
        <p:nvGrpSpPr>
          <p:cNvPr id="17" name="그래픽 18">
            <a:extLst>
              <a:ext uri="{FF2B5EF4-FFF2-40B4-BE49-F238E27FC236}">
                <a16:creationId xmlns:a16="http://schemas.microsoft.com/office/drawing/2014/main" id="{B8D7D975-E563-A1CB-6219-1C178A51B5D5}"/>
              </a:ext>
            </a:extLst>
          </p:cNvPr>
          <p:cNvGrpSpPr>
            <a:grpSpLocks/>
          </p:cNvGrpSpPr>
          <p:nvPr/>
        </p:nvGrpSpPr>
        <p:grpSpPr>
          <a:xfrm rot="10800000">
            <a:off x="0" y="3366099"/>
            <a:ext cx="7375804" cy="3394728"/>
            <a:chOff x="-1649888" y="4804391"/>
            <a:chExt cx="7375804" cy="3394728"/>
          </a:xfrm>
        </p:grpSpPr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369319F-A209-E857-FC94-BFF68BF987F6}"/>
                </a:ext>
              </a:extLst>
            </p:cNvPr>
            <p:cNvSpPr>
              <a:spLocks/>
            </p:cNvSpPr>
            <p:nvPr/>
          </p:nvSpPr>
          <p:spPr>
            <a:xfrm>
              <a:off x="-1649888" y="4833062"/>
              <a:ext cx="2178168" cy="1996496"/>
            </a:xfrm>
            <a:custGeom>
              <a:avLst/>
              <a:gdLst>
                <a:gd name="csX0" fmla="*/ 2178169 w 2178168"/>
                <a:gd name="csY0" fmla="*/ 1996496 h 1996496"/>
                <a:gd name="csX1" fmla="*/ 1727347 w 2178168"/>
                <a:gd name="csY1" fmla="*/ 1996496 h 1996496"/>
                <a:gd name="csX2" fmla="*/ 0 w 2178168"/>
                <a:gd name="csY2" fmla="*/ 0 h 1996496"/>
                <a:gd name="csX3" fmla="*/ 450822 w 2178168"/>
                <a:gd name="csY3" fmla="*/ 0 h 1996496"/>
                <a:gd name="csX4" fmla="*/ 2178169 w 2178168"/>
                <a:gd name="csY4" fmla="*/ 1996496 h 1996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78168" h="1996496">
                  <a:moveTo>
                    <a:pt x="2178169" y="1996496"/>
                  </a:moveTo>
                  <a:lnTo>
                    <a:pt x="1727347" y="1996496"/>
                  </a:lnTo>
                  <a:lnTo>
                    <a:pt x="0" y="0"/>
                  </a:lnTo>
                  <a:lnTo>
                    <a:pt x="450822" y="0"/>
                  </a:lnTo>
                  <a:lnTo>
                    <a:pt x="2178169" y="1996496"/>
                  </a:lnTo>
                  <a:close/>
                </a:path>
              </a:pathLst>
            </a:custGeom>
            <a:solidFill>
              <a:srgbClr val="B4D0E5">
                <a:alpha val="10000"/>
              </a:srgbClr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8574B2FB-446E-628D-A721-E25AF1C589DF}"/>
                </a:ext>
              </a:extLst>
            </p:cNvPr>
            <p:cNvSpPr>
              <a:spLocks/>
            </p:cNvSpPr>
            <p:nvPr/>
          </p:nvSpPr>
          <p:spPr>
            <a:xfrm>
              <a:off x="2719509" y="4804391"/>
              <a:ext cx="3006407" cy="3394728"/>
            </a:xfrm>
            <a:custGeom>
              <a:avLst/>
              <a:gdLst>
                <a:gd name="csX0" fmla="*/ 3006408 w 3006407"/>
                <a:gd name="csY0" fmla="*/ 1353860 h 3394728"/>
                <a:gd name="csX1" fmla="*/ 3006408 w 3006407"/>
                <a:gd name="csY1" fmla="*/ 3394729 h 3394728"/>
                <a:gd name="csX2" fmla="*/ 0 w 3006407"/>
                <a:gd name="csY2" fmla="*/ 0 h 3394728"/>
                <a:gd name="csX3" fmla="*/ 1807470 w 3006407"/>
                <a:gd name="csY3" fmla="*/ 0 h 3394728"/>
                <a:gd name="csX4" fmla="*/ 3006408 w 3006407"/>
                <a:gd name="csY4" fmla="*/ 1353860 h 3394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06407" h="3394728">
                  <a:moveTo>
                    <a:pt x="3006408" y="1353860"/>
                  </a:moveTo>
                  <a:lnTo>
                    <a:pt x="3006408" y="3394729"/>
                  </a:lnTo>
                  <a:lnTo>
                    <a:pt x="0" y="0"/>
                  </a:lnTo>
                  <a:lnTo>
                    <a:pt x="1807470" y="0"/>
                  </a:lnTo>
                  <a:lnTo>
                    <a:pt x="3006408" y="1353860"/>
                  </a:lnTo>
                  <a:close/>
                </a:path>
              </a:pathLst>
            </a:custGeom>
            <a:solidFill>
              <a:srgbClr val="B4D0E5">
                <a:alpha val="20000"/>
              </a:srgbClr>
            </a:solidFill>
            <a:ln w="3799" cap="flat">
              <a:solidFill>
                <a:srgbClr val="FFFFFF">
                  <a:alpha val="2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37131577-9A85-3E6A-BDCF-2D3DC653E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626" y="230030"/>
            <a:ext cx="2353970" cy="74279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865297-8170-69A6-578F-168481569A63}"/>
              </a:ext>
            </a:extLst>
          </p:cNvPr>
          <p:cNvSpPr/>
          <p:nvPr/>
        </p:nvSpPr>
        <p:spPr>
          <a:xfrm>
            <a:off x="0" y="0"/>
            <a:ext cx="12191999" cy="101753"/>
          </a:xfrm>
          <a:prstGeom prst="rect">
            <a:avLst/>
          </a:prstGeom>
          <a:solidFill>
            <a:srgbClr val="5C9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94ED5BF-BDC3-7468-AD19-AB45F2B96B4E}"/>
              </a:ext>
            </a:extLst>
          </p:cNvPr>
          <p:cNvSpPr/>
          <p:nvPr/>
        </p:nvSpPr>
        <p:spPr>
          <a:xfrm>
            <a:off x="-1" y="6756247"/>
            <a:ext cx="12191999" cy="101753"/>
          </a:xfrm>
          <a:prstGeom prst="rect">
            <a:avLst/>
          </a:prstGeom>
          <a:solidFill>
            <a:srgbClr val="0D3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E2F4A7E8-ED89-4421-01D2-F1CB79147B90}"/>
              </a:ext>
            </a:extLst>
          </p:cNvPr>
          <p:cNvSpPr/>
          <p:nvPr/>
        </p:nvSpPr>
        <p:spPr>
          <a:xfrm>
            <a:off x="548640" y="1493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3262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실측 데이터로 짚어내는</a:t>
            </a:r>
            <a:endParaRPr lang="en-US" sz="3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2811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폭염</a:t>
            </a:r>
            <a:r>
              <a:rPr lang="en-US" sz="3000" b="1" dirty="0">
                <a:solidFill>
                  <a:srgbClr val="23262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· </a:t>
            </a:r>
            <a:r>
              <a:rPr lang="en-US" sz="3000" b="1" dirty="0">
                <a:solidFill>
                  <a:srgbClr val="3E97A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한파</a:t>
            </a:r>
            <a:r>
              <a:rPr lang="en-US" sz="3000" b="1" dirty="0">
                <a:solidFill>
                  <a:srgbClr val="23262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· </a:t>
            </a:r>
            <a:r>
              <a:rPr lang="en-US" sz="3000" b="1" dirty="0">
                <a:solidFill>
                  <a:srgbClr val="2E7A6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홍수</a:t>
            </a:r>
            <a:r>
              <a:rPr lang="en-US" sz="3000" b="1" dirty="0">
                <a:solidFill>
                  <a:srgbClr val="23262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· </a:t>
            </a:r>
            <a:r>
              <a:rPr lang="en-US" sz="3000" b="1" dirty="0">
                <a:solidFill>
                  <a:srgbClr val="C97D3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가뭄</a:t>
            </a:r>
            <a:r>
              <a:rPr lang="en-US" sz="3000" b="1" dirty="0">
                <a:solidFill>
                  <a:srgbClr val="23262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대응 연구</a:t>
            </a:r>
            <a:endParaRPr lang="en-US" sz="3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8AE5B6F2-8E4D-0863-137D-D1C3F55CED8F}"/>
              </a:ext>
            </a:extLst>
          </p:cNvPr>
          <p:cNvSpPr/>
          <p:nvPr/>
        </p:nvSpPr>
        <p:spPr>
          <a:xfrm>
            <a:off x="548640" y="28651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위성·IoT 센서·시나리오 분석·빅데이터로 기후재난의 실제 영향을 진단하고, 행정동·시군구 단위 대응 전략을 제시합니다.</a:t>
            </a:r>
            <a:endParaRPr lang="en-US" sz="13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458295C-245F-CCAF-D693-770EFE4ED065}"/>
              </a:ext>
            </a:extLst>
          </p:cNvPr>
          <p:cNvGrpSpPr/>
          <p:nvPr/>
        </p:nvGrpSpPr>
        <p:grpSpPr>
          <a:xfrm>
            <a:off x="637540" y="3590925"/>
            <a:ext cx="2542032" cy="2423160"/>
            <a:chOff x="637540" y="3441700"/>
            <a:chExt cx="2542032" cy="2423160"/>
          </a:xfrm>
        </p:grpSpPr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0EFEEFA5-AAEE-1406-0C78-10AA882A3F9A}"/>
                </a:ext>
              </a:extLst>
            </p:cNvPr>
            <p:cNvSpPr/>
            <p:nvPr/>
          </p:nvSpPr>
          <p:spPr>
            <a:xfrm>
              <a:off x="637540" y="3441700"/>
              <a:ext cx="2542032" cy="242316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101600" dist="38100" dir="5400000" algn="bl" rotWithShape="0">
                <a:srgbClr val="8A857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pic>
          <p:nvPicPr>
            <p:cNvPr id="36" name="Image 0" descr="/home/claude/booth/heat_hero.jpg">
              <a:extLst>
                <a:ext uri="{FF2B5EF4-FFF2-40B4-BE49-F238E27FC236}">
                  <a16:creationId xmlns:a16="http://schemas.microsoft.com/office/drawing/2014/main" id="{A3DD22AF-A0FB-0C6C-DFE3-5D2A8712F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37540" y="3441700"/>
              <a:ext cx="2542032" cy="1417320"/>
            </a:xfrm>
            <a:prstGeom prst="rect">
              <a:avLst/>
            </a:prstGeom>
          </p:spPr>
        </p:pic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4448FC50-3516-DD3C-28D9-012F1645D2C9}"/>
                </a:ext>
              </a:extLst>
            </p:cNvPr>
            <p:cNvSpPr/>
            <p:nvPr/>
          </p:nvSpPr>
          <p:spPr>
            <a:xfrm>
              <a:off x="802132" y="4968748"/>
              <a:ext cx="2212848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F2811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HEAT WAVE</a:t>
              </a:r>
              <a:endParaRPr lang="en-US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40" name="Text 7">
              <a:extLst>
                <a:ext uri="{FF2B5EF4-FFF2-40B4-BE49-F238E27FC236}">
                  <a16:creationId xmlns:a16="http://schemas.microsoft.com/office/drawing/2014/main" id="{2E18546D-95AC-B18B-CEED-9841FAA91A51}"/>
                </a:ext>
              </a:extLst>
            </p:cNvPr>
            <p:cNvSpPr/>
            <p:nvPr/>
          </p:nvSpPr>
          <p:spPr>
            <a:xfrm>
              <a:off x="802132" y="5169916"/>
              <a:ext cx="22128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폭염</a:t>
              </a:r>
              <a:endParaRPr 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309974A4-412C-334A-E47A-AB5466309F41}"/>
                </a:ext>
              </a:extLst>
            </p:cNvPr>
            <p:cNvSpPr/>
            <p:nvPr/>
          </p:nvSpPr>
          <p:spPr>
            <a:xfrm>
              <a:off x="802132" y="5480812"/>
              <a:ext cx="22128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도시 열섬을 잡는 실측 기반 폭염 대응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5C2D65B-4B2A-0D03-A00C-1C834C2D190C}"/>
              </a:ext>
            </a:extLst>
          </p:cNvPr>
          <p:cNvGrpSpPr/>
          <p:nvPr/>
        </p:nvGrpSpPr>
        <p:grpSpPr>
          <a:xfrm>
            <a:off x="3497919" y="3590925"/>
            <a:ext cx="2542032" cy="2423160"/>
            <a:chOff x="3362452" y="3441700"/>
            <a:chExt cx="2542032" cy="2423160"/>
          </a:xfrm>
        </p:grpSpPr>
        <p:sp>
          <p:nvSpPr>
            <p:cNvPr id="44" name="Shape 9">
              <a:extLst>
                <a:ext uri="{FF2B5EF4-FFF2-40B4-BE49-F238E27FC236}">
                  <a16:creationId xmlns:a16="http://schemas.microsoft.com/office/drawing/2014/main" id="{927020E7-6C27-54F6-0899-EE913FCB8BB5}"/>
                </a:ext>
              </a:extLst>
            </p:cNvPr>
            <p:cNvSpPr/>
            <p:nvPr/>
          </p:nvSpPr>
          <p:spPr>
            <a:xfrm>
              <a:off x="3362452" y="3441700"/>
              <a:ext cx="2542032" cy="242316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101600" dist="38100" dir="5400000" algn="bl" rotWithShape="0">
                <a:srgbClr val="8A857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pic>
          <p:nvPicPr>
            <p:cNvPr id="46" name="Image 1" descr="/home/claude/booth/cold_hero.jpg">
              <a:extLst>
                <a:ext uri="{FF2B5EF4-FFF2-40B4-BE49-F238E27FC236}">
                  <a16:creationId xmlns:a16="http://schemas.microsoft.com/office/drawing/2014/main" id="{D61B9EB0-1D38-3013-092D-B8A7E7EC2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3362452" y="3441700"/>
              <a:ext cx="2542032" cy="1417320"/>
            </a:xfrm>
            <a:prstGeom prst="rect">
              <a:avLst/>
            </a:prstGeom>
          </p:spPr>
        </p:pic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CBD4434D-66DB-4168-F8DC-C31B16D2DB17}"/>
                </a:ext>
              </a:extLst>
            </p:cNvPr>
            <p:cNvSpPr/>
            <p:nvPr/>
          </p:nvSpPr>
          <p:spPr>
            <a:xfrm>
              <a:off x="3527044" y="4968748"/>
              <a:ext cx="2212848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3E97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COLD WAVE</a:t>
              </a:r>
              <a:endParaRPr lang="en-US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50" name="Text 11">
              <a:extLst>
                <a:ext uri="{FF2B5EF4-FFF2-40B4-BE49-F238E27FC236}">
                  <a16:creationId xmlns:a16="http://schemas.microsoft.com/office/drawing/2014/main" id="{6BDBA500-C187-0E53-2850-0BED8647EFD4}"/>
                </a:ext>
              </a:extLst>
            </p:cNvPr>
            <p:cNvSpPr/>
            <p:nvPr/>
          </p:nvSpPr>
          <p:spPr>
            <a:xfrm>
              <a:off x="3527044" y="5169916"/>
              <a:ext cx="22128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한파</a:t>
              </a:r>
              <a:endParaRPr 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52" name="Text 12">
              <a:extLst>
                <a:ext uri="{FF2B5EF4-FFF2-40B4-BE49-F238E27FC236}">
                  <a16:creationId xmlns:a16="http://schemas.microsoft.com/office/drawing/2014/main" id="{DFF20AC1-7E2A-4E05-D83A-882FF1F62C95}"/>
                </a:ext>
              </a:extLst>
            </p:cNvPr>
            <p:cNvSpPr/>
            <p:nvPr/>
          </p:nvSpPr>
          <p:spPr>
            <a:xfrm>
              <a:off x="3527044" y="5480812"/>
              <a:ext cx="22128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노출·민감도·적응력으로 읽는 한파 취약성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B4550D5-C57D-FF3B-327A-139560A02AC3}"/>
              </a:ext>
            </a:extLst>
          </p:cNvPr>
          <p:cNvGrpSpPr/>
          <p:nvPr/>
        </p:nvGrpSpPr>
        <p:grpSpPr>
          <a:xfrm>
            <a:off x="6358298" y="3590925"/>
            <a:ext cx="2542032" cy="2423160"/>
            <a:chOff x="6087364" y="3441700"/>
            <a:chExt cx="2542032" cy="2423160"/>
          </a:xfrm>
        </p:grpSpPr>
        <p:sp>
          <p:nvSpPr>
            <p:cNvPr id="54" name="Shape 13">
              <a:extLst>
                <a:ext uri="{FF2B5EF4-FFF2-40B4-BE49-F238E27FC236}">
                  <a16:creationId xmlns:a16="http://schemas.microsoft.com/office/drawing/2014/main" id="{185F43BB-AEB4-971A-6664-64E6E7FBD729}"/>
                </a:ext>
              </a:extLst>
            </p:cNvPr>
            <p:cNvSpPr/>
            <p:nvPr/>
          </p:nvSpPr>
          <p:spPr>
            <a:xfrm>
              <a:off x="6087364" y="3441700"/>
              <a:ext cx="2542032" cy="242316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101600" dist="38100" dir="5400000" algn="bl" rotWithShape="0">
                <a:srgbClr val="8A857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pic>
          <p:nvPicPr>
            <p:cNvPr id="56" name="Image 2" descr="/home/claude/booth/flood_hero.jpg">
              <a:extLst>
                <a:ext uri="{FF2B5EF4-FFF2-40B4-BE49-F238E27FC236}">
                  <a16:creationId xmlns:a16="http://schemas.microsoft.com/office/drawing/2014/main" id="{5331EB53-D864-FF87-108F-3971E7E65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087364" y="3441700"/>
              <a:ext cx="2542032" cy="1417320"/>
            </a:xfrm>
            <a:prstGeom prst="rect">
              <a:avLst/>
            </a:prstGeom>
          </p:spPr>
        </p:pic>
        <p:sp>
          <p:nvSpPr>
            <p:cNvPr id="58" name="Text 14">
              <a:extLst>
                <a:ext uri="{FF2B5EF4-FFF2-40B4-BE49-F238E27FC236}">
                  <a16:creationId xmlns:a16="http://schemas.microsoft.com/office/drawing/2014/main" id="{478A9E02-62E6-559F-73A1-0FDB5C395C88}"/>
                </a:ext>
              </a:extLst>
            </p:cNvPr>
            <p:cNvSpPr/>
            <p:nvPr/>
          </p:nvSpPr>
          <p:spPr>
            <a:xfrm>
              <a:off x="6251956" y="4968748"/>
              <a:ext cx="2212848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URBAN FLOOD</a:t>
              </a:r>
              <a:endParaRPr lang="en-US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0" name="Text 15">
              <a:extLst>
                <a:ext uri="{FF2B5EF4-FFF2-40B4-BE49-F238E27FC236}">
                  <a16:creationId xmlns:a16="http://schemas.microsoft.com/office/drawing/2014/main" id="{6B7BBC19-14FE-BAF5-24E7-2DA2388749EC}"/>
                </a:ext>
              </a:extLst>
            </p:cNvPr>
            <p:cNvSpPr/>
            <p:nvPr/>
          </p:nvSpPr>
          <p:spPr>
            <a:xfrm>
              <a:off x="6251956" y="5169916"/>
              <a:ext cx="22128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 err="1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홍수</a:t>
              </a:r>
              <a:r>
                <a:rPr lang="en-US" sz="18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·</a:t>
              </a:r>
              <a:r>
                <a:rPr lang="ko-KR" altLang="en-US" sz="18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침수</a:t>
              </a:r>
              <a:endParaRPr 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2" name="Text 16">
              <a:extLst>
                <a:ext uri="{FF2B5EF4-FFF2-40B4-BE49-F238E27FC236}">
                  <a16:creationId xmlns:a16="http://schemas.microsoft.com/office/drawing/2014/main" id="{805AEB86-F119-D425-C668-FD7B234A7B2B}"/>
                </a:ext>
              </a:extLst>
            </p:cNvPr>
            <p:cNvSpPr/>
            <p:nvPr/>
          </p:nvSpPr>
          <p:spPr>
            <a:xfrm>
              <a:off x="6251956" y="5480812"/>
              <a:ext cx="22128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센서 오류에도 흔들리지 않는 실시간 침수 감지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F02F6BD-AA98-1EF4-8B05-BBD88758F0D2}"/>
              </a:ext>
            </a:extLst>
          </p:cNvPr>
          <p:cNvGrpSpPr/>
          <p:nvPr/>
        </p:nvGrpSpPr>
        <p:grpSpPr>
          <a:xfrm>
            <a:off x="9218676" y="3590925"/>
            <a:ext cx="2542032" cy="2423160"/>
            <a:chOff x="8812276" y="3441700"/>
            <a:chExt cx="2542032" cy="2423160"/>
          </a:xfrm>
        </p:grpSpPr>
        <p:sp>
          <p:nvSpPr>
            <p:cNvPr id="64" name="Shape 17">
              <a:extLst>
                <a:ext uri="{FF2B5EF4-FFF2-40B4-BE49-F238E27FC236}">
                  <a16:creationId xmlns:a16="http://schemas.microsoft.com/office/drawing/2014/main" id="{3647DD99-5345-42D1-80E6-B8F628C3FF72}"/>
                </a:ext>
              </a:extLst>
            </p:cNvPr>
            <p:cNvSpPr/>
            <p:nvPr/>
          </p:nvSpPr>
          <p:spPr>
            <a:xfrm>
              <a:off x="8812276" y="3441700"/>
              <a:ext cx="2542032" cy="242316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101600" dist="38100" dir="5400000" algn="bl" rotWithShape="0">
                <a:srgbClr val="8A857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pic>
          <p:nvPicPr>
            <p:cNvPr id="66" name="Image 3" descr="/home/claude/booth/drought_hero.jpg">
              <a:extLst>
                <a:ext uri="{FF2B5EF4-FFF2-40B4-BE49-F238E27FC236}">
                  <a16:creationId xmlns:a16="http://schemas.microsoft.com/office/drawing/2014/main" id="{D564CAF8-C2B7-6670-6483-F36C8E385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8812276" y="3441700"/>
              <a:ext cx="2542032" cy="1417320"/>
            </a:xfrm>
            <a:prstGeom prst="rect">
              <a:avLst/>
            </a:prstGeom>
          </p:spPr>
        </p:pic>
        <p:sp>
          <p:nvSpPr>
            <p:cNvPr id="68" name="Text 18">
              <a:extLst>
                <a:ext uri="{FF2B5EF4-FFF2-40B4-BE49-F238E27FC236}">
                  <a16:creationId xmlns:a16="http://schemas.microsoft.com/office/drawing/2014/main" id="{74C5A898-CBC3-A1EB-C202-07447703AE69}"/>
                </a:ext>
              </a:extLst>
            </p:cNvPr>
            <p:cNvSpPr/>
            <p:nvPr/>
          </p:nvSpPr>
          <p:spPr>
            <a:xfrm>
              <a:off x="8976868" y="4968748"/>
              <a:ext cx="2212848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C97D3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DROUGHT</a:t>
              </a:r>
              <a:endParaRPr lang="en-US" sz="1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0" name="Text 19">
              <a:extLst>
                <a:ext uri="{FF2B5EF4-FFF2-40B4-BE49-F238E27FC236}">
                  <a16:creationId xmlns:a16="http://schemas.microsoft.com/office/drawing/2014/main" id="{E91346D0-2C34-2173-8726-21DA6C8D07FB}"/>
                </a:ext>
              </a:extLst>
            </p:cNvPr>
            <p:cNvSpPr/>
            <p:nvPr/>
          </p:nvSpPr>
          <p:spPr>
            <a:xfrm>
              <a:off x="8976868" y="5169916"/>
              <a:ext cx="22128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가뭄</a:t>
              </a:r>
              <a:endParaRPr 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2" name="Text 20">
              <a:extLst>
                <a:ext uri="{FF2B5EF4-FFF2-40B4-BE49-F238E27FC236}">
                  <a16:creationId xmlns:a16="http://schemas.microsoft.com/office/drawing/2014/main" id="{430E1AF6-2044-77E2-B4BA-80E061A7F236}"/>
                </a:ext>
              </a:extLst>
            </p:cNvPr>
            <p:cNvSpPr/>
            <p:nvPr/>
          </p:nvSpPr>
          <p:spPr>
            <a:xfrm>
              <a:off x="8976868" y="5480812"/>
              <a:ext cx="22128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물공급을 넘어, 5개 분야로 읽는 가뭄의 실제 영향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D246721-1AF4-8790-C64C-216197B7479E}"/>
              </a:ext>
            </a:extLst>
          </p:cNvPr>
          <p:cNvGrpSpPr/>
          <p:nvPr/>
        </p:nvGrpSpPr>
        <p:grpSpPr>
          <a:xfrm>
            <a:off x="-1" y="1014718"/>
            <a:ext cx="6095899" cy="337913"/>
            <a:chOff x="-1" y="1014718"/>
            <a:chExt cx="6095899" cy="337913"/>
          </a:xfrm>
        </p:grpSpPr>
        <p:sp>
          <p:nvSpPr>
            <p:cNvPr id="82" name="사각형: 둥근 위쪽 모서리 1">
              <a:extLst>
                <a:ext uri="{FF2B5EF4-FFF2-40B4-BE49-F238E27FC236}">
                  <a16:creationId xmlns:a16="http://schemas.microsoft.com/office/drawing/2014/main" id="{08703A16-148C-0195-AE5C-236A7746C098}"/>
                </a:ext>
              </a:extLst>
            </p:cNvPr>
            <p:cNvSpPr/>
            <p:nvPr/>
          </p:nvSpPr>
          <p:spPr>
            <a:xfrm rot="5400000">
              <a:off x="2888571" y="-1854959"/>
              <a:ext cx="318755" cy="6095899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15000">
                  <a:srgbClr val="0D323A"/>
                </a:gs>
                <a:gs pos="100000">
                  <a:srgbClr val="5C93A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EEBA95-BA28-3C3B-550A-A23243EB8B03}"/>
                </a:ext>
              </a:extLst>
            </p:cNvPr>
            <p:cNvSpPr txBox="1"/>
            <p:nvPr/>
          </p:nvSpPr>
          <p:spPr>
            <a:xfrm>
              <a:off x="548720" y="1014718"/>
              <a:ext cx="4226480" cy="337913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defTabSz="414680">
                <a:lnSpc>
                  <a:spcPct val="110000"/>
                </a:lnSpc>
                <a:spcAft>
                  <a:spcPts val="248"/>
                </a:spcAft>
              </a:pPr>
              <a:r>
                <a:rPr lang="en-US" altLang="ko-KR" sz="1451" spc="-9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CLIMATE DISASTER RESPONSE RESEARCH</a:t>
              </a:r>
            </a:p>
          </p:txBody>
        </p:sp>
      </p:grpSp>
      <p:pic>
        <p:nvPicPr>
          <p:cNvPr id="92" name="그림 91">
            <a:extLst>
              <a:ext uri="{FF2B5EF4-FFF2-40B4-BE49-F238E27FC236}">
                <a16:creationId xmlns:a16="http://schemas.microsoft.com/office/drawing/2014/main" id="{987ADC17-13B0-4331-0D2E-263C9FD717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8280" y="1712294"/>
            <a:ext cx="754380" cy="754380"/>
          </a:xfrm>
          <a:prstGeom prst="rect">
            <a:avLst/>
          </a:prstGeom>
          <a:ln>
            <a:solidFill>
              <a:srgbClr val="0D323A"/>
            </a:solidFill>
          </a:ln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423B16F-2816-E9A9-9D4E-F02AF7A648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4703" y="1702829"/>
            <a:ext cx="843305" cy="76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6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491D-E157-EBEC-4CA4-866F3D74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3276CFA-361D-78D0-34B9-74CF1668E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788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9D52A40-72E0-A342-8A05-86B3E4FC590F}"/>
              </a:ext>
            </a:extLst>
          </p:cNvPr>
          <p:cNvSpPr/>
          <p:nvPr/>
        </p:nvSpPr>
        <p:spPr>
          <a:xfrm>
            <a:off x="0" y="0"/>
            <a:ext cx="12191999" cy="101753"/>
          </a:xfrm>
          <a:prstGeom prst="rect">
            <a:avLst/>
          </a:prstGeom>
          <a:solidFill>
            <a:srgbClr val="5C9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99080B-89BF-3B18-579C-392DC6A137F7}"/>
              </a:ext>
            </a:extLst>
          </p:cNvPr>
          <p:cNvSpPr/>
          <p:nvPr/>
        </p:nvSpPr>
        <p:spPr>
          <a:xfrm>
            <a:off x="-1" y="6756247"/>
            <a:ext cx="12191999" cy="101753"/>
          </a:xfrm>
          <a:prstGeom prst="rect">
            <a:avLst/>
          </a:prstGeom>
          <a:solidFill>
            <a:srgbClr val="0D3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3AE3DBE2-1527-F4CD-5546-94EF8671B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626" y="230030"/>
            <a:ext cx="2353970" cy="742790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0BD2BF6C-2AE3-CAAD-6AE9-C5208F94EAF5}"/>
              </a:ext>
            </a:extLst>
          </p:cNvPr>
          <p:cNvGrpSpPr/>
          <p:nvPr/>
        </p:nvGrpSpPr>
        <p:grpSpPr>
          <a:xfrm>
            <a:off x="650239" y="2329904"/>
            <a:ext cx="11094415" cy="3886200"/>
            <a:chOff x="650239" y="1961604"/>
            <a:chExt cx="11094415" cy="3886200"/>
          </a:xfrm>
        </p:grpSpPr>
        <p:sp>
          <p:nvSpPr>
            <p:cNvPr id="63" name="Text 4">
              <a:extLst>
                <a:ext uri="{FF2B5EF4-FFF2-40B4-BE49-F238E27FC236}">
                  <a16:creationId xmlns:a16="http://schemas.microsoft.com/office/drawing/2014/main" id="{00A19771-D06E-EEFF-B140-C3078C0A9EAC}"/>
                </a:ext>
              </a:extLst>
            </p:cNvPr>
            <p:cNvSpPr/>
            <p:nvPr/>
          </p:nvSpPr>
          <p:spPr>
            <a:xfrm>
              <a:off x="650239" y="1961604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F2811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URBAN THERMAL ENVIRONMENT</a:t>
              </a:r>
              <a:endParaRPr 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5" name="Text 5">
              <a:extLst>
                <a:ext uri="{FF2B5EF4-FFF2-40B4-BE49-F238E27FC236}">
                  <a16:creationId xmlns:a16="http://schemas.microsoft.com/office/drawing/2014/main" id="{8C361413-0634-4B86-93C4-321D6E39E49A}"/>
                </a:ext>
              </a:extLst>
            </p:cNvPr>
            <p:cNvSpPr/>
            <p:nvPr/>
          </p:nvSpPr>
          <p:spPr>
            <a:xfrm>
              <a:off x="650239" y="2235924"/>
              <a:ext cx="8686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3000"/>
                </a:lnSpc>
                <a:buNone/>
              </a:pPr>
              <a:r>
                <a:rPr lang="en-US" sz="26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과천시 지표면 온도로 찾아낸</a:t>
              </a:r>
              <a:endParaRPr lang="en-US" sz="2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marL="0" indent="0">
                <a:lnSpc>
                  <a:spcPts val="3000"/>
                </a:lnSpc>
                <a:buNone/>
              </a:pPr>
              <a:r>
                <a:rPr lang="en-US" sz="2600" b="1" dirty="0">
                  <a:solidFill>
                    <a:srgbClr val="F2811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폭염 취약지역</a:t>
              </a:r>
              <a:endParaRPr lang="en-US" sz="2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5027BF6F-6A50-3C1E-D4BC-2571812914A8}"/>
                </a:ext>
              </a:extLst>
            </p:cNvPr>
            <p:cNvSpPr/>
            <p:nvPr/>
          </p:nvSpPr>
          <p:spPr>
            <a:xfrm>
              <a:off x="650239" y="3287484"/>
              <a:ext cx="822960" cy="237744"/>
            </a:xfrm>
            <a:prstGeom prst="roundRect">
              <a:avLst>
                <a:gd name="adj" fmla="val 11538"/>
              </a:avLst>
            </a:prstGeom>
            <a:solidFill>
              <a:srgbClr val="F0EEE6"/>
            </a:solidFill>
            <a:ln w="9525">
              <a:solidFill>
                <a:srgbClr val="E4E1D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9" name="Text 7">
              <a:extLst>
                <a:ext uri="{FF2B5EF4-FFF2-40B4-BE49-F238E27FC236}">
                  <a16:creationId xmlns:a16="http://schemas.microsoft.com/office/drawing/2014/main" id="{186F0B3F-73FF-2E88-BE45-C7FE5E57093D}"/>
                </a:ext>
              </a:extLst>
            </p:cNvPr>
            <p:cNvSpPr/>
            <p:nvPr/>
          </p:nvSpPr>
          <p:spPr>
            <a:xfrm>
              <a:off x="650239" y="3287484"/>
              <a:ext cx="82296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문제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1" name="Text 8">
              <a:extLst>
                <a:ext uri="{FF2B5EF4-FFF2-40B4-BE49-F238E27FC236}">
                  <a16:creationId xmlns:a16="http://schemas.microsoft.com/office/drawing/2014/main" id="{BF9688AB-6CD3-D5C2-E029-7D35020F7DD1}"/>
                </a:ext>
              </a:extLst>
            </p:cNvPr>
            <p:cNvSpPr/>
            <p:nvPr/>
          </p:nvSpPr>
          <p:spPr>
            <a:xfrm>
              <a:off x="1610359" y="3241764"/>
              <a:ext cx="96926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도시 폭염 피해는 반복되지만, 행정동 단위로 어디가 더 위험한지 판단할 실측 근거가 부족합니다.</a:t>
              </a:r>
              <a:endParaRPr 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3" name="Shape 9">
              <a:extLst>
                <a:ext uri="{FF2B5EF4-FFF2-40B4-BE49-F238E27FC236}">
                  <a16:creationId xmlns:a16="http://schemas.microsoft.com/office/drawing/2014/main" id="{F8672A4A-67FF-B819-55F7-0ED950750E44}"/>
                </a:ext>
              </a:extLst>
            </p:cNvPr>
            <p:cNvSpPr/>
            <p:nvPr/>
          </p:nvSpPr>
          <p:spPr>
            <a:xfrm>
              <a:off x="650239" y="3671532"/>
              <a:ext cx="822960" cy="237744"/>
            </a:xfrm>
            <a:prstGeom prst="roundRect">
              <a:avLst>
                <a:gd name="adj" fmla="val 11538"/>
              </a:avLst>
            </a:prstGeom>
            <a:solidFill>
              <a:srgbClr val="F2811D"/>
            </a:solidFill>
            <a:ln/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5" name="Text 10">
              <a:extLst>
                <a:ext uri="{FF2B5EF4-FFF2-40B4-BE49-F238E27FC236}">
                  <a16:creationId xmlns:a16="http://schemas.microsoft.com/office/drawing/2014/main" id="{644191F4-9281-59A3-DDAD-9600B0D4DDCA}"/>
                </a:ext>
              </a:extLst>
            </p:cNvPr>
            <p:cNvSpPr/>
            <p:nvPr/>
          </p:nvSpPr>
          <p:spPr>
            <a:xfrm>
              <a:off x="650239" y="3671532"/>
              <a:ext cx="82296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우리의 해결</a:t>
              </a:r>
              <a:endParaRPr lang="en-US" sz="8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7" name="Text 11">
              <a:extLst>
                <a:ext uri="{FF2B5EF4-FFF2-40B4-BE49-F238E27FC236}">
                  <a16:creationId xmlns:a16="http://schemas.microsoft.com/office/drawing/2014/main" id="{85F1B57E-D6D9-BF02-28E5-E6B42144AF73}"/>
                </a:ext>
              </a:extLst>
            </p:cNvPr>
            <p:cNvSpPr/>
            <p:nvPr/>
          </p:nvSpPr>
          <p:spPr>
            <a:xfrm>
              <a:off x="1610359" y="3598380"/>
              <a:ext cx="9692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Landsat 위성 지표면온도와 도심 14개 지점 IoT 실측 기온을 결합해 검증하고(r=0.59, p&lt;0.001), 열섬 클러스터 분석과 행정동 단위 대응 우선순위 지수(HRPAI)를 개발했습니다.</a:t>
              </a:r>
              <a:endParaRPr 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9" name="Shape 12">
              <a:extLst>
                <a:ext uri="{FF2B5EF4-FFF2-40B4-BE49-F238E27FC236}">
                  <a16:creationId xmlns:a16="http://schemas.microsoft.com/office/drawing/2014/main" id="{5AC0AFEE-6752-BEBF-754B-3195007E1430}"/>
                </a:ext>
              </a:extLst>
            </p:cNvPr>
            <p:cNvSpPr/>
            <p:nvPr/>
          </p:nvSpPr>
          <p:spPr>
            <a:xfrm>
              <a:off x="650239" y="4293324"/>
              <a:ext cx="3564026" cy="155448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1" name="Text 13">
              <a:extLst>
                <a:ext uri="{FF2B5EF4-FFF2-40B4-BE49-F238E27FC236}">
                  <a16:creationId xmlns:a16="http://schemas.microsoft.com/office/drawing/2014/main" id="{351605DE-D8D8-D618-F3BE-2C648D5BDE01}"/>
                </a:ext>
              </a:extLst>
            </p:cNvPr>
            <p:cNvSpPr/>
            <p:nvPr/>
          </p:nvSpPr>
          <p:spPr>
            <a:xfrm>
              <a:off x="833119" y="4457916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2811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r = 0.59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3" name="Text 14">
              <a:extLst>
                <a:ext uri="{FF2B5EF4-FFF2-40B4-BE49-F238E27FC236}">
                  <a16:creationId xmlns:a16="http://schemas.microsoft.com/office/drawing/2014/main" id="{31DC6700-D73F-111A-9D78-1D8898E7DF61}"/>
                </a:ext>
              </a:extLst>
            </p:cNvPr>
            <p:cNvSpPr/>
            <p:nvPr/>
          </p:nvSpPr>
          <p:spPr>
            <a:xfrm>
              <a:off x="833119" y="4713948"/>
              <a:ext cx="1554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위성 LST · 실측기온 상관관계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5" name="Text 15">
              <a:extLst>
                <a:ext uri="{FF2B5EF4-FFF2-40B4-BE49-F238E27FC236}">
                  <a16:creationId xmlns:a16="http://schemas.microsoft.com/office/drawing/2014/main" id="{52CA46C9-4187-B8F7-19C5-C87C0D46F5A7}"/>
                </a:ext>
              </a:extLst>
            </p:cNvPr>
            <p:cNvSpPr/>
            <p:nvPr/>
          </p:nvSpPr>
          <p:spPr>
            <a:xfrm>
              <a:off x="833119" y="5079708"/>
              <a:ext cx="1718437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p&lt;0.001, n=70 · 30m 해상도 LST와 IoT 센서 실측값 비교 검증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7" name="Shape 16">
              <a:extLst>
                <a:ext uri="{FF2B5EF4-FFF2-40B4-BE49-F238E27FC236}">
                  <a16:creationId xmlns:a16="http://schemas.microsoft.com/office/drawing/2014/main" id="{55F78B2C-CBAA-D73A-18D3-57B8EC9D19FB}"/>
                </a:ext>
              </a:extLst>
            </p:cNvPr>
            <p:cNvSpPr/>
            <p:nvPr/>
          </p:nvSpPr>
          <p:spPr>
            <a:xfrm>
              <a:off x="4415433" y="4293324"/>
              <a:ext cx="3564026" cy="155448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E451455B-9054-D913-9AF4-84E777CA815B}"/>
                </a:ext>
              </a:extLst>
            </p:cNvPr>
            <p:cNvSpPr/>
            <p:nvPr/>
          </p:nvSpPr>
          <p:spPr>
            <a:xfrm>
              <a:off x="4598313" y="4457916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2811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38.96℃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91" name="Text 18">
              <a:extLst>
                <a:ext uri="{FF2B5EF4-FFF2-40B4-BE49-F238E27FC236}">
                  <a16:creationId xmlns:a16="http://schemas.microsoft.com/office/drawing/2014/main" id="{872A8660-6A71-4CEC-0A0E-2A3B63D0DC58}"/>
                </a:ext>
              </a:extLst>
            </p:cNvPr>
            <p:cNvSpPr/>
            <p:nvPr/>
          </p:nvSpPr>
          <p:spPr>
            <a:xfrm>
              <a:off x="4598313" y="4713948"/>
              <a:ext cx="319826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과천시 평균 LST (여름철)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93" name="Text 19">
              <a:extLst>
                <a:ext uri="{FF2B5EF4-FFF2-40B4-BE49-F238E27FC236}">
                  <a16:creationId xmlns:a16="http://schemas.microsoft.com/office/drawing/2014/main" id="{6C0158E1-059A-0DA7-6014-F598BACBA70C}"/>
                </a:ext>
              </a:extLst>
            </p:cNvPr>
            <p:cNvSpPr/>
            <p:nvPr/>
          </p:nvSpPr>
          <p:spPr>
            <a:xfrm>
              <a:off x="4598313" y="5079708"/>
              <a:ext cx="1736728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최고 46.27℃~최저 29.93℃, 약 16℃ 공간 편차 확인 · 별양동·과천동·부림동 상대적 고온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95" name="Shape 20">
              <a:extLst>
                <a:ext uri="{FF2B5EF4-FFF2-40B4-BE49-F238E27FC236}">
                  <a16:creationId xmlns:a16="http://schemas.microsoft.com/office/drawing/2014/main" id="{1B18184B-8FAC-F72A-DACB-FD17D73F22C8}"/>
                </a:ext>
              </a:extLst>
            </p:cNvPr>
            <p:cNvSpPr/>
            <p:nvPr/>
          </p:nvSpPr>
          <p:spPr>
            <a:xfrm>
              <a:off x="8180628" y="4293324"/>
              <a:ext cx="3564026" cy="155448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97" name="Text 21">
              <a:extLst>
                <a:ext uri="{FF2B5EF4-FFF2-40B4-BE49-F238E27FC236}">
                  <a16:creationId xmlns:a16="http://schemas.microsoft.com/office/drawing/2014/main" id="{50329E29-BFAE-BB28-90AE-53C75B78F500}"/>
                </a:ext>
              </a:extLst>
            </p:cNvPr>
            <p:cNvSpPr/>
            <p:nvPr/>
          </p:nvSpPr>
          <p:spPr>
            <a:xfrm>
              <a:off x="8363508" y="4457916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2811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HRPAI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99" name="Text 22">
              <a:extLst>
                <a:ext uri="{FF2B5EF4-FFF2-40B4-BE49-F238E27FC236}">
                  <a16:creationId xmlns:a16="http://schemas.microsoft.com/office/drawing/2014/main" id="{273C6808-7283-0E85-FC3A-D68E4C525925}"/>
                </a:ext>
              </a:extLst>
            </p:cNvPr>
            <p:cNvSpPr/>
            <p:nvPr/>
          </p:nvSpPr>
          <p:spPr>
            <a:xfrm>
              <a:off x="8363508" y="4713948"/>
              <a:ext cx="319826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폭염</a:t>
              </a:r>
              <a:r>
                <a:rPr 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대응 우선순위 지수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01" name="Text 23">
              <a:extLst>
                <a:ext uri="{FF2B5EF4-FFF2-40B4-BE49-F238E27FC236}">
                  <a16:creationId xmlns:a16="http://schemas.microsoft.com/office/drawing/2014/main" id="{7C34339C-47F3-0F7A-DBDB-E720EF37B1BD}"/>
                </a:ext>
              </a:extLst>
            </p:cNvPr>
            <p:cNvSpPr/>
            <p:nvPr/>
          </p:nvSpPr>
          <p:spPr>
            <a:xfrm>
              <a:off x="8363508" y="5079708"/>
              <a:ext cx="1919605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Getis-Ord Gi*·LISA 공간통계로 고온 클러스터 도출, 행정동 단위 대응 인프라 우선순위 산출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049EDD28-C4FC-D2E7-5139-C1E445B1F4A1}"/>
              </a:ext>
            </a:extLst>
          </p:cNvPr>
          <p:cNvGrpSpPr/>
          <p:nvPr/>
        </p:nvGrpSpPr>
        <p:grpSpPr>
          <a:xfrm>
            <a:off x="-1" y="1014718"/>
            <a:ext cx="6095899" cy="337913"/>
            <a:chOff x="-1" y="1014718"/>
            <a:chExt cx="6095899" cy="337913"/>
          </a:xfrm>
        </p:grpSpPr>
        <p:sp>
          <p:nvSpPr>
            <p:cNvPr id="106" name="사각형: 둥근 위쪽 모서리 1">
              <a:extLst>
                <a:ext uri="{FF2B5EF4-FFF2-40B4-BE49-F238E27FC236}">
                  <a16:creationId xmlns:a16="http://schemas.microsoft.com/office/drawing/2014/main" id="{32BC6338-49FC-8819-35F1-27F91580B283}"/>
                </a:ext>
              </a:extLst>
            </p:cNvPr>
            <p:cNvSpPr/>
            <p:nvPr/>
          </p:nvSpPr>
          <p:spPr>
            <a:xfrm rot="5400000">
              <a:off x="2888571" y="-1854959"/>
              <a:ext cx="318755" cy="6095899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15000">
                  <a:srgbClr val="0D323A"/>
                </a:gs>
                <a:gs pos="100000">
                  <a:srgbClr val="5C93A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DE01FE6-E008-EB38-14DA-FAD73EF1EB67}"/>
                </a:ext>
              </a:extLst>
            </p:cNvPr>
            <p:cNvSpPr txBox="1"/>
            <p:nvPr/>
          </p:nvSpPr>
          <p:spPr>
            <a:xfrm>
              <a:off x="548720" y="1014718"/>
              <a:ext cx="4226480" cy="337913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defTabSz="414680">
                <a:lnSpc>
                  <a:spcPct val="110000"/>
                </a:lnSpc>
                <a:spcAft>
                  <a:spcPts val="248"/>
                </a:spcAft>
              </a:pPr>
              <a:r>
                <a:rPr lang="en-US" altLang="ko-KR" sz="1451" spc="-9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CLIMATE DISASTER RESPONSE RESEARCH</a:t>
              </a:r>
            </a:p>
          </p:txBody>
        </p:sp>
      </p:grpSp>
      <p:pic>
        <p:nvPicPr>
          <p:cNvPr id="112" name="그림 111">
            <a:extLst>
              <a:ext uri="{FF2B5EF4-FFF2-40B4-BE49-F238E27FC236}">
                <a16:creationId xmlns:a16="http://schemas.microsoft.com/office/drawing/2014/main" id="{B076A1F1-E93D-2DB9-2211-F14BDF978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926" y="1713860"/>
            <a:ext cx="754380" cy="754380"/>
          </a:xfrm>
          <a:prstGeom prst="rect">
            <a:avLst/>
          </a:prstGeom>
          <a:ln>
            <a:solidFill>
              <a:srgbClr val="0D323A"/>
            </a:solidFill>
          </a:ln>
        </p:spPr>
      </p:pic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9DEA1AB-970A-EDD1-01FE-7EC9173ED265}"/>
              </a:ext>
            </a:extLst>
          </p:cNvPr>
          <p:cNvGrpSpPr/>
          <p:nvPr/>
        </p:nvGrpSpPr>
        <p:grpSpPr>
          <a:xfrm>
            <a:off x="650239" y="1727830"/>
            <a:ext cx="1737360" cy="310896"/>
            <a:chOff x="650239" y="1511930"/>
            <a:chExt cx="1737360" cy="310896"/>
          </a:xfrm>
        </p:grpSpPr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963C0E67-DA5D-03BF-FF31-3BFF0AA7A978}"/>
                </a:ext>
              </a:extLst>
            </p:cNvPr>
            <p:cNvSpPr/>
            <p:nvPr/>
          </p:nvSpPr>
          <p:spPr>
            <a:xfrm>
              <a:off x="650239" y="1511930"/>
              <a:ext cx="1737360" cy="310896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9050">
              <a:solidFill>
                <a:srgbClr val="F2811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Text 3">
              <a:extLst>
                <a:ext uri="{FF2B5EF4-FFF2-40B4-BE49-F238E27FC236}">
                  <a16:creationId xmlns:a16="http://schemas.microsoft.com/office/drawing/2014/main" id="{DFD40063-86CB-FD5F-079D-63C5B2358637}"/>
                </a:ext>
              </a:extLst>
            </p:cNvPr>
            <p:cNvSpPr/>
            <p:nvPr/>
          </p:nvSpPr>
          <p:spPr>
            <a:xfrm>
              <a:off x="650239" y="1511930"/>
              <a:ext cx="173736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kern="0" spc="100" dirty="0">
                  <a:solidFill>
                    <a:srgbClr val="F2811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HEAT WAVE · 폭염</a:t>
              </a:r>
              <a:endParaRPr lang="en-US" sz="10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pic>
        <p:nvPicPr>
          <p:cNvPr id="119" name="Image 0" descr="/home/claude/booth/heat_hero.jpg">
            <a:extLst>
              <a:ext uri="{FF2B5EF4-FFF2-40B4-BE49-F238E27FC236}">
                <a16:creationId xmlns:a16="http://schemas.microsoft.com/office/drawing/2014/main" id="{41F3C407-FA35-01CD-ECF0-7EC15C9BCC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01349" y="1702430"/>
            <a:ext cx="843305" cy="769741"/>
          </a:xfrm>
          <a:prstGeom prst="rect">
            <a:avLst/>
          </a:prstGeom>
        </p:spPr>
      </p:pic>
      <p:sp>
        <p:nvSpPr>
          <p:cNvPr id="121" name="Shape 12">
            <a:extLst>
              <a:ext uri="{FF2B5EF4-FFF2-40B4-BE49-F238E27FC236}">
                <a16:creationId xmlns:a16="http://schemas.microsoft.com/office/drawing/2014/main" id="{A5DF0F1E-0EB3-315D-C436-70FA77CE7467}"/>
              </a:ext>
            </a:extLst>
          </p:cNvPr>
          <p:cNvSpPr/>
          <p:nvPr/>
        </p:nvSpPr>
        <p:spPr>
          <a:xfrm>
            <a:off x="2752725" y="4650740"/>
            <a:ext cx="1461540" cy="1554480"/>
          </a:xfrm>
          <a:prstGeom prst="roundRect">
            <a:avLst>
              <a:gd name="adj" fmla="val 352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이미지추가</a:t>
            </a:r>
          </a:p>
        </p:txBody>
      </p:sp>
      <p:sp>
        <p:nvSpPr>
          <p:cNvPr id="123" name="Shape 12">
            <a:extLst>
              <a:ext uri="{FF2B5EF4-FFF2-40B4-BE49-F238E27FC236}">
                <a16:creationId xmlns:a16="http://schemas.microsoft.com/office/drawing/2014/main" id="{A7504A88-696B-666A-A4C9-0DFFBE2D3204}"/>
              </a:ext>
            </a:extLst>
          </p:cNvPr>
          <p:cNvSpPr/>
          <p:nvPr/>
        </p:nvSpPr>
        <p:spPr>
          <a:xfrm>
            <a:off x="6517921" y="4650740"/>
            <a:ext cx="1461540" cy="1554480"/>
          </a:xfrm>
          <a:prstGeom prst="roundRect">
            <a:avLst>
              <a:gd name="adj" fmla="val 352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이미지추가</a:t>
            </a:r>
          </a:p>
        </p:txBody>
      </p:sp>
      <p:sp>
        <p:nvSpPr>
          <p:cNvPr id="125" name="Shape 12">
            <a:extLst>
              <a:ext uri="{FF2B5EF4-FFF2-40B4-BE49-F238E27FC236}">
                <a16:creationId xmlns:a16="http://schemas.microsoft.com/office/drawing/2014/main" id="{A5ACDA97-9078-93F5-C615-4E23E60D68A6}"/>
              </a:ext>
            </a:extLst>
          </p:cNvPr>
          <p:cNvSpPr/>
          <p:nvPr/>
        </p:nvSpPr>
        <p:spPr>
          <a:xfrm>
            <a:off x="10283115" y="4650740"/>
            <a:ext cx="1461540" cy="1554480"/>
          </a:xfrm>
          <a:prstGeom prst="roundRect">
            <a:avLst>
              <a:gd name="adj" fmla="val 352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이미지추가</a:t>
            </a:r>
          </a:p>
        </p:txBody>
      </p:sp>
    </p:spTree>
    <p:extLst>
      <p:ext uri="{BB962C8B-B14F-4D97-AF65-F5344CB8AC3E}">
        <p14:creationId xmlns:p14="http://schemas.microsoft.com/office/powerpoint/2010/main" val="172567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673B-D176-CD6D-9B76-0321AD2B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그림 92">
            <a:extLst>
              <a:ext uri="{FF2B5EF4-FFF2-40B4-BE49-F238E27FC236}">
                <a16:creationId xmlns:a16="http://schemas.microsoft.com/office/drawing/2014/main" id="{BBBCE04F-427D-9A9E-28A0-0D7B70D1E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715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D5E1CED-FC9E-9B7E-7CAC-58671D9BDC9A}"/>
              </a:ext>
            </a:extLst>
          </p:cNvPr>
          <p:cNvSpPr/>
          <p:nvPr/>
        </p:nvSpPr>
        <p:spPr>
          <a:xfrm>
            <a:off x="0" y="0"/>
            <a:ext cx="12191999" cy="101753"/>
          </a:xfrm>
          <a:prstGeom prst="rect">
            <a:avLst/>
          </a:prstGeom>
          <a:solidFill>
            <a:srgbClr val="5C9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AEEA3D-63CD-4764-2142-136C2BFEC140}"/>
              </a:ext>
            </a:extLst>
          </p:cNvPr>
          <p:cNvSpPr/>
          <p:nvPr/>
        </p:nvSpPr>
        <p:spPr>
          <a:xfrm>
            <a:off x="-1" y="6756247"/>
            <a:ext cx="12191999" cy="101753"/>
          </a:xfrm>
          <a:prstGeom prst="rect">
            <a:avLst/>
          </a:prstGeom>
          <a:solidFill>
            <a:srgbClr val="0D3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B68CE6-116F-8E40-390B-394CD5525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626" y="230030"/>
            <a:ext cx="2353970" cy="74279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283EF0B0-FB7A-F7CD-40B8-9AA46B1FA229}"/>
              </a:ext>
            </a:extLst>
          </p:cNvPr>
          <p:cNvGrpSpPr/>
          <p:nvPr/>
        </p:nvGrpSpPr>
        <p:grpSpPr>
          <a:xfrm>
            <a:off x="-1" y="1014718"/>
            <a:ext cx="6095899" cy="337913"/>
            <a:chOff x="-1" y="1014718"/>
            <a:chExt cx="6095899" cy="337913"/>
          </a:xfrm>
        </p:grpSpPr>
        <p:sp>
          <p:nvSpPr>
            <p:cNvPr id="16" name="사각형: 둥근 위쪽 모서리 1">
              <a:extLst>
                <a:ext uri="{FF2B5EF4-FFF2-40B4-BE49-F238E27FC236}">
                  <a16:creationId xmlns:a16="http://schemas.microsoft.com/office/drawing/2014/main" id="{920B2737-3503-9A87-6D4F-42F6194CDB6F}"/>
                </a:ext>
              </a:extLst>
            </p:cNvPr>
            <p:cNvSpPr/>
            <p:nvPr/>
          </p:nvSpPr>
          <p:spPr>
            <a:xfrm rot="5400000">
              <a:off x="2888571" y="-1854959"/>
              <a:ext cx="318755" cy="6095899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15000">
                  <a:srgbClr val="0D323A"/>
                </a:gs>
                <a:gs pos="100000">
                  <a:srgbClr val="5C93A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FD388C3-6772-3EBD-6E17-BCBD39C9E01F}"/>
                </a:ext>
              </a:extLst>
            </p:cNvPr>
            <p:cNvSpPr txBox="1"/>
            <p:nvPr/>
          </p:nvSpPr>
          <p:spPr>
            <a:xfrm>
              <a:off x="548720" y="1014718"/>
              <a:ext cx="4226480" cy="337913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defTabSz="414680">
                <a:lnSpc>
                  <a:spcPct val="110000"/>
                </a:lnSpc>
                <a:spcAft>
                  <a:spcPts val="248"/>
                </a:spcAft>
              </a:pPr>
              <a:r>
                <a:rPr lang="en-US" altLang="ko-KR" sz="1451" spc="-9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CLIMATE DISASTER RESPONSE RESEARCH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84AD15A-CE7A-2E19-AC91-9BCC4D159016}"/>
              </a:ext>
            </a:extLst>
          </p:cNvPr>
          <p:cNvGrpSpPr/>
          <p:nvPr/>
        </p:nvGrpSpPr>
        <p:grpSpPr>
          <a:xfrm>
            <a:off x="662940" y="2306320"/>
            <a:ext cx="11094415" cy="3886200"/>
            <a:chOff x="548640" y="960120"/>
            <a:chExt cx="11094415" cy="3886200"/>
          </a:xfrm>
        </p:grpSpPr>
        <p:sp>
          <p:nvSpPr>
            <p:cNvPr id="61" name="Text 4">
              <a:extLst>
                <a:ext uri="{FF2B5EF4-FFF2-40B4-BE49-F238E27FC236}">
                  <a16:creationId xmlns:a16="http://schemas.microsoft.com/office/drawing/2014/main" id="{EBFB8686-EFC6-C504-FE96-017DB1813279}"/>
                </a:ext>
              </a:extLst>
            </p:cNvPr>
            <p:cNvSpPr/>
            <p:nvPr/>
          </p:nvSpPr>
          <p:spPr>
            <a:xfrm>
              <a:off x="548640" y="96012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3E97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CLIMATE VULNERABILITY INDEX</a:t>
              </a:r>
              <a:endParaRPr 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2" name="Text 5">
              <a:extLst>
                <a:ext uri="{FF2B5EF4-FFF2-40B4-BE49-F238E27FC236}">
                  <a16:creationId xmlns:a16="http://schemas.microsoft.com/office/drawing/2014/main" id="{0F9B6841-13A9-AD56-7594-24E22CDF5977}"/>
                </a:ext>
              </a:extLst>
            </p:cNvPr>
            <p:cNvSpPr/>
            <p:nvPr/>
          </p:nvSpPr>
          <p:spPr>
            <a:xfrm>
              <a:off x="548640" y="1234440"/>
              <a:ext cx="8686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3000"/>
                </a:lnSpc>
                <a:buNone/>
              </a:pPr>
              <a:r>
                <a:rPr lang="en-US" sz="26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노출·민감도·적응력으로 계산하는</a:t>
              </a:r>
              <a:endParaRPr lang="en-US" sz="2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marL="0" indent="0">
                <a:lnSpc>
                  <a:spcPts val="3000"/>
                </a:lnSpc>
                <a:buNone/>
              </a:pPr>
              <a:r>
                <a:rPr lang="en-US" sz="2600" b="1" dirty="0">
                  <a:solidFill>
                    <a:srgbClr val="3E97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한파 취약성</a:t>
              </a:r>
              <a:endParaRPr lang="en-US" sz="2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3" name="Shape 6">
              <a:extLst>
                <a:ext uri="{FF2B5EF4-FFF2-40B4-BE49-F238E27FC236}">
                  <a16:creationId xmlns:a16="http://schemas.microsoft.com/office/drawing/2014/main" id="{6F883917-9F61-4E9D-9196-EED65CA73FBF}"/>
                </a:ext>
              </a:extLst>
            </p:cNvPr>
            <p:cNvSpPr/>
            <p:nvPr/>
          </p:nvSpPr>
          <p:spPr>
            <a:xfrm>
              <a:off x="548640" y="2286000"/>
              <a:ext cx="822960" cy="237744"/>
            </a:xfrm>
            <a:prstGeom prst="roundRect">
              <a:avLst>
                <a:gd name="adj" fmla="val 11538"/>
              </a:avLst>
            </a:prstGeom>
            <a:solidFill>
              <a:srgbClr val="F0EEE6"/>
            </a:solidFill>
            <a:ln w="9525">
              <a:solidFill>
                <a:srgbClr val="E4E1D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49D8286D-B78B-01A2-ED63-B77B7EEC6E68}"/>
                </a:ext>
              </a:extLst>
            </p:cNvPr>
            <p:cNvSpPr/>
            <p:nvPr/>
          </p:nvSpPr>
          <p:spPr>
            <a:xfrm>
              <a:off x="548640" y="2286000"/>
              <a:ext cx="82296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문제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5" name="Text 8">
              <a:extLst>
                <a:ext uri="{FF2B5EF4-FFF2-40B4-BE49-F238E27FC236}">
                  <a16:creationId xmlns:a16="http://schemas.microsoft.com/office/drawing/2014/main" id="{96BAC3C6-C2F3-452F-D63B-8C93DD72A277}"/>
                </a:ext>
              </a:extLst>
            </p:cNvPr>
            <p:cNvSpPr/>
            <p:nvPr/>
          </p:nvSpPr>
          <p:spPr>
            <a:xfrm>
              <a:off x="1508760" y="2240280"/>
              <a:ext cx="96926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한파 대응은 기상특보 중심이라, 지역마다 다른 사회적 민감도와 대응 여력 차이가 반영되지 않습니다.</a:t>
              </a:r>
              <a:endParaRPr 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6" name="Shape 9">
              <a:extLst>
                <a:ext uri="{FF2B5EF4-FFF2-40B4-BE49-F238E27FC236}">
                  <a16:creationId xmlns:a16="http://schemas.microsoft.com/office/drawing/2014/main" id="{9A546A03-84AE-9C50-8CC3-78BCD0E88DEF}"/>
                </a:ext>
              </a:extLst>
            </p:cNvPr>
            <p:cNvSpPr/>
            <p:nvPr/>
          </p:nvSpPr>
          <p:spPr>
            <a:xfrm>
              <a:off x="548640" y="2670048"/>
              <a:ext cx="822960" cy="237744"/>
            </a:xfrm>
            <a:prstGeom prst="roundRect">
              <a:avLst>
                <a:gd name="adj" fmla="val 11538"/>
              </a:avLst>
            </a:prstGeom>
            <a:solidFill>
              <a:srgbClr val="3E97A6"/>
            </a:solidFill>
            <a:ln/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7" name="Text 10">
              <a:extLst>
                <a:ext uri="{FF2B5EF4-FFF2-40B4-BE49-F238E27FC236}">
                  <a16:creationId xmlns:a16="http://schemas.microsoft.com/office/drawing/2014/main" id="{E32F12AC-B4D2-2414-1AF1-8B48C49DCFF9}"/>
                </a:ext>
              </a:extLst>
            </p:cNvPr>
            <p:cNvSpPr/>
            <p:nvPr/>
          </p:nvSpPr>
          <p:spPr>
            <a:xfrm>
              <a:off x="548640" y="2670048"/>
              <a:ext cx="82296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우리의 해결</a:t>
              </a:r>
              <a:endParaRPr lang="en-US" sz="8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8" name="Text 11">
              <a:extLst>
                <a:ext uri="{FF2B5EF4-FFF2-40B4-BE49-F238E27FC236}">
                  <a16:creationId xmlns:a16="http://schemas.microsoft.com/office/drawing/2014/main" id="{E3C08251-0ED8-558A-056C-1603405B6628}"/>
                </a:ext>
              </a:extLst>
            </p:cNvPr>
            <p:cNvSpPr/>
            <p:nvPr/>
          </p:nvSpPr>
          <p:spPr>
            <a:xfrm>
              <a:off x="1508760" y="2596896"/>
              <a:ext cx="9692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기후노출·민감도·적응력을 결합한 취약성 산정식을 개발하고, SSP 시나리오별 지역 간 격차를 진단했습니다.</a:t>
              </a:r>
              <a:endParaRPr 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9" name="Shape 12">
              <a:extLst>
                <a:ext uri="{FF2B5EF4-FFF2-40B4-BE49-F238E27FC236}">
                  <a16:creationId xmlns:a16="http://schemas.microsoft.com/office/drawing/2014/main" id="{580A4162-5B25-2AB7-0F7D-2625325FFC08}"/>
                </a:ext>
              </a:extLst>
            </p:cNvPr>
            <p:cNvSpPr/>
            <p:nvPr/>
          </p:nvSpPr>
          <p:spPr>
            <a:xfrm>
              <a:off x="548640" y="3291840"/>
              <a:ext cx="3564026" cy="155448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0" name="Text 13">
              <a:extLst>
                <a:ext uri="{FF2B5EF4-FFF2-40B4-BE49-F238E27FC236}">
                  <a16:creationId xmlns:a16="http://schemas.microsoft.com/office/drawing/2014/main" id="{0E6DBD94-C6DC-F2B3-34CD-8964EA4E24EF}"/>
                </a:ext>
              </a:extLst>
            </p:cNvPr>
            <p:cNvSpPr/>
            <p:nvPr/>
          </p:nvSpPr>
          <p:spPr>
            <a:xfrm>
              <a:off x="731520" y="3456432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E97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V=0.4CE+0.3ST−0.3AC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1" name="Text 14">
              <a:extLst>
                <a:ext uri="{FF2B5EF4-FFF2-40B4-BE49-F238E27FC236}">
                  <a16:creationId xmlns:a16="http://schemas.microsoft.com/office/drawing/2014/main" id="{1A7BB0E9-B614-BF29-DA1B-88B758CEB535}"/>
                </a:ext>
              </a:extLst>
            </p:cNvPr>
            <p:cNvSpPr/>
            <p:nvPr/>
          </p:nvSpPr>
          <p:spPr>
            <a:xfrm>
              <a:off x="731520" y="3712464"/>
              <a:ext cx="319826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기후변화 취약성 산정식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2" name="Text 15">
              <a:extLst>
                <a:ext uri="{FF2B5EF4-FFF2-40B4-BE49-F238E27FC236}">
                  <a16:creationId xmlns:a16="http://schemas.microsoft.com/office/drawing/2014/main" id="{A687E399-6477-0F14-A2EA-0A57EB5B2725}"/>
                </a:ext>
              </a:extLst>
            </p:cNvPr>
            <p:cNvSpPr/>
            <p:nvPr/>
          </p:nvSpPr>
          <p:spPr>
            <a:xfrm>
              <a:off x="731520" y="4078224"/>
              <a:ext cx="319826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노출(극한기후지수) · 민감도(고령자·한랭질환 비율) · 적응력(GRDP·응급의료 등)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3" name="Shape 16">
              <a:extLst>
                <a:ext uri="{FF2B5EF4-FFF2-40B4-BE49-F238E27FC236}">
                  <a16:creationId xmlns:a16="http://schemas.microsoft.com/office/drawing/2014/main" id="{654DEE22-01E6-186E-9C0B-876B1C029076}"/>
                </a:ext>
              </a:extLst>
            </p:cNvPr>
            <p:cNvSpPr/>
            <p:nvPr/>
          </p:nvSpPr>
          <p:spPr>
            <a:xfrm>
              <a:off x="4313834" y="3291840"/>
              <a:ext cx="3564026" cy="155448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4" name="Text 17">
              <a:extLst>
                <a:ext uri="{FF2B5EF4-FFF2-40B4-BE49-F238E27FC236}">
                  <a16:creationId xmlns:a16="http://schemas.microsoft.com/office/drawing/2014/main" id="{3EF4968B-3045-6364-6727-F5B7870D1BDF}"/>
                </a:ext>
              </a:extLst>
            </p:cNvPr>
            <p:cNvSpPr/>
            <p:nvPr/>
          </p:nvSpPr>
          <p:spPr>
            <a:xfrm>
              <a:off x="4496714" y="3456432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E97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SSP1→SSP3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5" name="Text 18">
              <a:extLst>
                <a:ext uri="{FF2B5EF4-FFF2-40B4-BE49-F238E27FC236}">
                  <a16:creationId xmlns:a16="http://schemas.microsoft.com/office/drawing/2014/main" id="{D5BB1521-9840-9B7E-A76E-B9864BFE874F}"/>
                </a:ext>
              </a:extLst>
            </p:cNvPr>
            <p:cNvSpPr/>
            <p:nvPr/>
          </p:nvSpPr>
          <p:spPr>
            <a:xfrm>
              <a:off x="4496714" y="3712464"/>
              <a:ext cx="319826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시나리오별 한파 영향도(CI_CW)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6" name="Text 19">
              <a:extLst>
                <a:ext uri="{FF2B5EF4-FFF2-40B4-BE49-F238E27FC236}">
                  <a16:creationId xmlns:a16="http://schemas.microsoft.com/office/drawing/2014/main" id="{DAD27263-2EC8-CE4F-24F9-367E01CBCD2E}"/>
                </a:ext>
              </a:extLst>
            </p:cNvPr>
            <p:cNvSpPr/>
            <p:nvPr/>
          </p:nvSpPr>
          <p:spPr>
            <a:xfrm>
              <a:off x="4496714" y="4078224"/>
              <a:ext cx="319826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법정동 단위 비교 예시: 131.9 → 129.5 → 118.6 (시나리오 진행에 따른 변화 확인)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7" name="Shape 20">
              <a:extLst>
                <a:ext uri="{FF2B5EF4-FFF2-40B4-BE49-F238E27FC236}">
                  <a16:creationId xmlns:a16="http://schemas.microsoft.com/office/drawing/2014/main" id="{9ADEC2CA-B7B1-3C95-27DD-59FEEBEC765D}"/>
                </a:ext>
              </a:extLst>
            </p:cNvPr>
            <p:cNvSpPr/>
            <p:nvPr/>
          </p:nvSpPr>
          <p:spPr>
            <a:xfrm>
              <a:off x="8079029" y="3291840"/>
              <a:ext cx="3564026" cy="155448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8" name="Text 21">
              <a:extLst>
                <a:ext uri="{FF2B5EF4-FFF2-40B4-BE49-F238E27FC236}">
                  <a16:creationId xmlns:a16="http://schemas.microsoft.com/office/drawing/2014/main" id="{B2573C15-42FC-734F-82A2-CBB7E5CBAED7}"/>
                </a:ext>
              </a:extLst>
            </p:cNvPr>
            <p:cNvSpPr/>
            <p:nvPr/>
          </p:nvSpPr>
          <p:spPr>
            <a:xfrm>
              <a:off x="8261909" y="3456432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E97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읍면동→집계구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9" name="Text 22">
              <a:extLst>
                <a:ext uri="{FF2B5EF4-FFF2-40B4-BE49-F238E27FC236}">
                  <a16:creationId xmlns:a16="http://schemas.microsoft.com/office/drawing/2014/main" id="{71633A7F-25FD-C971-A73C-320337D3C0D0}"/>
                </a:ext>
              </a:extLst>
            </p:cNvPr>
            <p:cNvSpPr/>
            <p:nvPr/>
          </p:nvSpPr>
          <p:spPr>
            <a:xfrm>
              <a:off x="8261909" y="3712464"/>
              <a:ext cx="319826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공간 단위별 취약성 표출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0" name="Text 23">
              <a:extLst>
                <a:ext uri="{FF2B5EF4-FFF2-40B4-BE49-F238E27FC236}">
                  <a16:creationId xmlns:a16="http://schemas.microsoft.com/office/drawing/2014/main" id="{1602BBEE-594C-04C6-CB75-A97BDC44BDDA}"/>
                </a:ext>
              </a:extLst>
            </p:cNvPr>
            <p:cNvSpPr/>
            <p:nvPr/>
          </p:nvSpPr>
          <p:spPr>
            <a:xfrm>
              <a:off x="8261909" y="4078224"/>
              <a:ext cx="319826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행정 단위별 세분화된 취약계층 분포와 대응 인프라(그린·그레이·블루) 연계 제시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8696D79-72C5-7957-AC6D-4C4248ECECA4}"/>
              </a:ext>
            </a:extLst>
          </p:cNvPr>
          <p:cNvGrpSpPr/>
          <p:nvPr/>
        </p:nvGrpSpPr>
        <p:grpSpPr>
          <a:xfrm>
            <a:off x="650239" y="1727830"/>
            <a:ext cx="1737360" cy="310896"/>
            <a:chOff x="650239" y="1511930"/>
            <a:chExt cx="1737360" cy="310896"/>
          </a:xfrm>
        </p:grpSpPr>
        <p:sp>
          <p:nvSpPr>
            <p:cNvPr id="95" name="Shape 2">
              <a:extLst>
                <a:ext uri="{FF2B5EF4-FFF2-40B4-BE49-F238E27FC236}">
                  <a16:creationId xmlns:a16="http://schemas.microsoft.com/office/drawing/2014/main" id="{145FB605-D76A-6955-F318-EF40A36B5275}"/>
                </a:ext>
              </a:extLst>
            </p:cNvPr>
            <p:cNvSpPr/>
            <p:nvPr/>
          </p:nvSpPr>
          <p:spPr>
            <a:xfrm>
              <a:off x="650239" y="1511930"/>
              <a:ext cx="1737360" cy="310896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9050">
              <a:solidFill>
                <a:srgbClr val="3E97A6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6" name="Text 3">
              <a:extLst>
                <a:ext uri="{FF2B5EF4-FFF2-40B4-BE49-F238E27FC236}">
                  <a16:creationId xmlns:a16="http://schemas.microsoft.com/office/drawing/2014/main" id="{FE72E152-3128-D4AD-82CF-862CAF38A115}"/>
                </a:ext>
              </a:extLst>
            </p:cNvPr>
            <p:cNvSpPr/>
            <p:nvPr/>
          </p:nvSpPr>
          <p:spPr>
            <a:xfrm>
              <a:off x="650239" y="1511930"/>
              <a:ext cx="173736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kern="0" spc="100" dirty="0">
                  <a:solidFill>
                    <a:srgbClr val="5C93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COLD WAVE · </a:t>
              </a:r>
              <a:r>
                <a:rPr lang="ko-KR" altLang="en-US" sz="1050" b="1" kern="0" spc="100" dirty="0">
                  <a:solidFill>
                    <a:srgbClr val="5C93A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한파</a:t>
              </a:r>
            </a:p>
          </p:txBody>
        </p:sp>
      </p:grpSp>
      <p:pic>
        <p:nvPicPr>
          <p:cNvPr id="98" name="그림 97">
            <a:extLst>
              <a:ext uri="{FF2B5EF4-FFF2-40B4-BE49-F238E27FC236}">
                <a16:creationId xmlns:a16="http://schemas.microsoft.com/office/drawing/2014/main" id="{92DE9FD3-C35E-7DB4-301E-6904EA5E4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28" y="1708848"/>
            <a:ext cx="754380" cy="754380"/>
          </a:xfrm>
          <a:prstGeom prst="rect">
            <a:avLst/>
          </a:prstGeom>
          <a:ln>
            <a:solidFill>
              <a:srgbClr val="0D323A"/>
            </a:solidFill>
          </a:ln>
        </p:spPr>
      </p:pic>
      <p:pic>
        <p:nvPicPr>
          <p:cNvPr id="104" name="Image 1" descr="/home/claude/booth/cold_hero.jpg">
            <a:extLst>
              <a:ext uri="{FF2B5EF4-FFF2-40B4-BE49-F238E27FC236}">
                <a16:creationId xmlns:a16="http://schemas.microsoft.com/office/drawing/2014/main" id="{881228B6-1241-EEB6-C486-2CABCFD8F2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14050" y="1702181"/>
            <a:ext cx="843305" cy="765810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6BC135A4-AABF-4D02-0A07-6018DF2A1C47}"/>
              </a:ext>
            </a:extLst>
          </p:cNvPr>
          <p:cNvSpPr/>
          <p:nvPr/>
        </p:nvSpPr>
        <p:spPr>
          <a:xfrm>
            <a:off x="2752725" y="4650740"/>
            <a:ext cx="1461540" cy="1554480"/>
          </a:xfrm>
          <a:prstGeom prst="roundRect">
            <a:avLst>
              <a:gd name="adj" fmla="val 352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이미지추가</a:t>
            </a:r>
          </a:p>
        </p:txBody>
      </p:sp>
      <p:sp>
        <p:nvSpPr>
          <p:cNvPr id="108" name="Shape 12">
            <a:extLst>
              <a:ext uri="{FF2B5EF4-FFF2-40B4-BE49-F238E27FC236}">
                <a16:creationId xmlns:a16="http://schemas.microsoft.com/office/drawing/2014/main" id="{EF865A99-4AD7-0F34-8960-43300C8C477D}"/>
              </a:ext>
            </a:extLst>
          </p:cNvPr>
          <p:cNvSpPr/>
          <p:nvPr/>
        </p:nvSpPr>
        <p:spPr>
          <a:xfrm>
            <a:off x="6517921" y="4650740"/>
            <a:ext cx="1461540" cy="1554480"/>
          </a:xfrm>
          <a:prstGeom prst="roundRect">
            <a:avLst>
              <a:gd name="adj" fmla="val 352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이미지추가</a:t>
            </a:r>
          </a:p>
        </p:txBody>
      </p:sp>
      <p:sp>
        <p:nvSpPr>
          <p:cNvPr id="110" name="Shape 12">
            <a:extLst>
              <a:ext uri="{FF2B5EF4-FFF2-40B4-BE49-F238E27FC236}">
                <a16:creationId xmlns:a16="http://schemas.microsoft.com/office/drawing/2014/main" id="{E9CC9D52-9B0E-15C2-178D-161D1C66FE36}"/>
              </a:ext>
            </a:extLst>
          </p:cNvPr>
          <p:cNvSpPr/>
          <p:nvPr/>
        </p:nvSpPr>
        <p:spPr>
          <a:xfrm>
            <a:off x="10283115" y="4650740"/>
            <a:ext cx="1461540" cy="1554480"/>
          </a:xfrm>
          <a:prstGeom prst="roundRect">
            <a:avLst>
              <a:gd name="adj" fmla="val 352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이미지추가</a:t>
            </a:r>
          </a:p>
        </p:txBody>
      </p:sp>
    </p:spTree>
    <p:extLst>
      <p:ext uri="{BB962C8B-B14F-4D97-AF65-F5344CB8AC3E}">
        <p14:creationId xmlns:p14="http://schemas.microsoft.com/office/powerpoint/2010/main" val="178767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25D0-ABBE-9CAD-FAFB-707C5999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그림 90">
            <a:extLst>
              <a:ext uri="{FF2B5EF4-FFF2-40B4-BE49-F238E27FC236}">
                <a16:creationId xmlns:a16="http://schemas.microsoft.com/office/drawing/2014/main" id="{4A8A7F30-9B97-52E9-4D1C-08A2FDB67C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14013"/>
          <a:stretch>
            <a:fillRect/>
          </a:stretch>
        </p:blipFill>
        <p:spPr>
          <a:xfrm>
            <a:off x="-2" y="0"/>
            <a:ext cx="12192001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CCC2E7F-EDB2-227D-E7B3-DB2571CDA313}"/>
              </a:ext>
            </a:extLst>
          </p:cNvPr>
          <p:cNvSpPr/>
          <p:nvPr/>
        </p:nvSpPr>
        <p:spPr>
          <a:xfrm>
            <a:off x="0" y="0"/>
            <a:ext cx="12191999" cy="101753"/>
          </a:xfrm>
          <a:prstGeom prst="rect">
            <a:avLst/>
          </a:prstGeom>
          <a:solidFill>
            <a:srgbClr val="5C9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E79FE6-C862-26D0-85AB-26C466D6C08C}"/>
              </a:ext>
            </a:extLst>
          </p:cNvPr>
          <p:cNvSpPr/>
          <p:nvPr/>
        </p:nvSpPr>
        <p:spPr>
          <a:xfrm>
            <a:off x="-1" y="6756247"/>
            <a:ext cx="12191999" cy="101753"/>
          </a:xfrm>
          <a:prstGeom prst="rect">
            <a:avLst/>
          </a:prstGeom>
          <a:solidFill>
            <a:srgbClr val="0D3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A26A14-2285-08A2-F185-77F4A0AE9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626" y="230030"/>
            <a:ext cx="2353970" cy="74279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EBBBC76E-AFB4-332F-9196-952D1FC2717C}"/>
              </a:ext>
            </a:extLst>
          </p:cNvPr>
          <p:cNvGrpSpPr/>
          <p:nvPr/>
        </p:nvGrpSpPr>
        <p:grpSpPr>
          <a:xfrm>
            <a:off x="-1" y="1014718"/>
            <a:ext cx="6095899" cy="337913"/>
            <a:chOff x="-1" y="1014718"/>
            <a:chExt cx="6095899" cy="337913"/>
          </a:xfrm>
        </p:grpSpPr>
        <p:sp>
          <p:nvSpPr>
            <p:cNvPr id="16" name="사각형: 둥근 위쪽 모서리 1">
              <a:extLst>
                <a:ext uri="{FF2B5EF4-FFF2-40B4-BE49-F238E27FC236}">
                  <a16:creationId xmlns:a16="http://schemas.microsoft.com/office/drawing/2014/main" id="{5224397C-9F76-1200-7661-7D6B29CC8A4D}"/>
                </a:ext>
              </a:extLst>
            </p:cNvPr>
            <p:cNvSpPr/>
            <p:nvPr/>
          </p:nvSpPr>
          <p:spPr>
            <a:xfrm rot="5400000">
              <a:off x="2888571" y="-1854959"/>
              <a:ext cx="318755" cy="6095899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15000">
                  <a:srgbClr val="0D323A"/>
                </a:gs>
                <a:gs pos="100000">
                  <a:srgbClr val="5C93A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33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7372BA-A430-B8F9-CE7D-230F9050F742}"/>
                </a:ext>
              </a:extLst>
            </p:cNvPr>
            <p:cNvSpPr txBox="1"/>
            <p:nvPr/>
          </p:nvSpPr>
          <p:spPr>
            <a:xfrm>
              <a:off x="548720" y="1014718"/>
              <a:ext cx="4226480" cy="337913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defTabSz="414680">
                <a:lnSpc>
                  <a:spcPct val="110000"/>
                </a:lnSpc>
                <a:spcAft>
                  <a:spcPts val="248"/>
                </a:spcAft>
              </a:pPr>
              <a:r>
                <a:rPr lang="en-US" altLang="ko-KR" sz="1451" spc="-9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CLIMATE DISASTER RESPONSE RESEARCH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88BB5DD-4D9D-17C1-8F58-39B7F98C4FAD}"/>
              </a:ext>
            </a:extLst>
          </p:cNvPr>
          <p:cNvGrpSpPr/>
          <p:nvPr/>
        </p:nvGrpSpPr>
        <p:grpSpPr>
          <a:xfrm>
            <a:off x="650240" y="2319020"/>
            <a:ext cx="11094415" cy="3886200"/>
            <a:chOff x="548640" y="960120"/>
            <a:chExt cx="11094415" cy="3886200"/>
          </a:xfrm>
        </p:grpSpPr>
        <p:sp>
          <p:nvSpPr>
            <p:cNvPr id="61" name="Text 4">
              <a:extLst>
                <a:ext uri="{FF2B5EF4-FFF2-40B4-BE49-F238E27FC236}">
                  <a16:creationId xmlns:a16="http://schemas.microsoft.com/office/drawing/2014/main" id="{D741D9E5-D846-CE66-F21A-126C986568C2}"/>
                </a:ext>
              </a:extLst>
            </p:cNvPr>
            <p:cNvSpPr/>
            <p:nvPr/>
          </p:nvSpPr>
          <p:spPr>
            <a:xfrm>
              <a:off x="548640" y="96012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IoT SENSOR DATA QUALITY</a:t>
              </a:r>
              <a:endParaRPr 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2" name="Text 5">
              <a:extLst>
                <a:ext uri="{FF2B5EF4-FFF2-40B4-BE49-F238E27FC236}">
                  <a16:creationId xmlns:a16="http://schemas.microsoft.com/office/drawing/2014/main" id="{8AF74068-A8D0-EBEF-04E1-33B690B6507F}"/>
                </a:ext>
              </a:extLst>
            </p:cNvPr>
            <p:cNvSpPr/>
            <p:nvPr/>
          </p:nvSpPr>
          <p:spPr>
            <a:xfrm>
              <a:off x="548640" y="1234440"/>
              <a:ext cx="8686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3000"/>
                </a:lnSpc>
                <a:buNone/>
              </a:pPr>
              <a:r>
                <a:rPr lang="ko-KR" altLang="en-US" sz="26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모니터링과 데이터 품질관리를 통한</a:t>
              </a:r>
              <a:endParaRPr lang="en-US" altLang="ko-KR" sz="2600" b="1" dirty="0">
                <a:solidFill>
                  <a:srgbClr val="23262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marL="0" indent="0">
                <a:lnSpc>
                  <a:spcPts val="3000"/>
                </a:lnSpc>
                <a:buNone/>
              </a:pPr>
              <a:r>
                <a:rPr lang="en-US" sz="2600" b="1" dirty="0" err="1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실시간</a:t>
              </a:r>
              <a:r>
                <a:rPr lang="en-US" sz="26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ko-KR" altLang="en-US" sz="26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홍수</a:t>
              </a:r>
              <a:r>
                <a:rPr lang="en-US" altLang="ko-KR" sz="26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·</a:t>
              </a:r>
              <a:r>
                <a:rPr lang="en-US" sz="2600" b="1" dirty="0" err="1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침수</a:t>
              </a:r>
              <a:r>
                <a:rPr lang="en-US" sz="26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감지</a:t>
              </a:r>
              <a:endParaRPr lang="en-US" sz="2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3" name="Shape 6">
              <a:extLst>
                <a:ext uri="{FF2B5EF4-FFF2-40B4-BE49-F238E27FC236}">
                  <a16:creationId xmlns:a16="http://schemas.microsoft.com/office/drawing/2014/main" id="{D1607247-F652-14C5-5B6F-5B27B9C679CC}"/>
                </a:ext>
              </a:extLst>
            </p:cNvPr>
            <p:cNvSpPr/>
            <p:nvPr/>
          </p:nvSpPr>
          <p:spPr>
            <a:xfrm>
              <a:off x="548640" y="2286000"/>
              <a:ext cx="822960" cy="237744"/>
            </a:xfrm>
            <a:prstGeom prst="roundRect">
              <a:avLst>
                <a:gd name="adj" fmla="val 11538"/>
              </a:avLst>
            </a:prstGeom>
            <a:solidFill>
              <a:srgbClr val="F0EEE6"/>
            </a:solidFill>
            <a:ln w="9525">
              <a:solidFill>
                <a:srgbClr val="E4E1D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B4CC35E7-73CD-8B79-1BC6-DF619C2F8B7F}"/>
                </a:ext>
              </a:extLst>
            </p:cNvPr>
            <p:cNvSpPr/>
            <p:nvPr/>
          </p:nvSpPr>
          <p:spPr>
            <a:xfrm>
              <a:off x="548640" y="2286000"/>
              <a:ext cx="82296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문제</a:t>
              </a:r>
              <a:endParaRPr lang="en-US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6" name="Shape 9">
              <a:extLst>
                <a:ext uri="{FF2B5EF4-FFF2-40B4-BE49-F238E27FC236}">
                  <a16:creationId xmlns:a16="http://schemas.microsoft.com/office/drawing/2014/main" id="{0340CCC4-9D07-8863-7A2B-80A0F1617841}"/>
                </a:ext>
              </a:extLst>
            </p:cNvPr>
            <p:cNvSpPr/>
            <p:nvPr/>
          </p:nvSpPr>
          <p:spPr>
            <a:xfrm>
              <a:off x="548640" y="2670048"/>
              <a:ext cx="822960" cy="237744"/>
            </a:xfrm>
            <a:prstGeom prst="roundRect">
              <a:avLst>
                <a:gd name="adj" fmla="val 11538"/>
              </a:avLst>
            </a:prstGeom>
            <a:solidFill>
              <a:srgbClr val="2E7A68"/>
            </a:solidFill>
            <a:ln/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7" name="Text 10">
              <a:extLst>
                <a:ext uri="{FF2B5EF4-FFF2-40B4-BE49-F238E27FC236}">
                  <a16:creationId xmlns:a16="http://schemas.microsoft.com/office/drawing/2014/main" id="{2B560617-08C6-0C8F-B26E-A1D84C0A772B}"/>
                </a:ext>
              </a:extLst>
            </p:cNvPr>
            <p:cNvSpPr/>
            <p:nvPr/>
          </p:nvSpPr>
          <p:spPr>
            <a:xfrm>
              <a:off x="548640" y="2670048"/>
              <a:ext cx="82296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우리의 해결</a:t>
              </a:r>
              <a:endParaRPr lang="en-US" sz="8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9" name="Shape 12">
              <a:extLst>
                <a:ext uri="{FF2B5EF4-FFF2-40B4-BE49-F238E27FC236}">
                  <a16:creationId xmlns:a16="http://schemas.microsoft.com/office/drawing/2014/main" id="{2262AA71-F5C0-03B1-B756-0C2BA42DD121}"/>
                </a:ext>
              </a:extLst>
            </p:cNvPr>
            <p:cNvSpPr/>
            <p:nvPr/>
          </p:nvSpPr>
          <p:spPr>
            <a:xfrm>
              <a:off x="548640" y="3291840"/>
              <a:ext cx="5219166" cy="155448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0" name="Text 13">
              <a:extLst>
                <a:ext uri="{FF2B5EF4-FFF2-40B4-BE49-F238E27FC236}">
                  <a16:creationId xmlns:a16="http://schemas.microsoft.com/office/drawing/2014/main" id="{831C65E1-BA6A-9AA9-2EC5-B486EA7BC9BE}"/>
                </a:ext>
              </a:extLst>
            </p:cNvPr>
            <p:cNvSpPr/>
            <p:nvPr/>
          </p:nvSpPr>
          <p:spPr>
            <a:xfrm>
              <a:off x="731520" y="3474904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IoT </a:t>
              </a:r>
              <a:r>
                <a:rPr lang="ko-KR" altLang="en-US" sz="13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센서 데이터</a:t>
              </a:r>
              <a:endParaRPr lang="en-US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1" name="Text 14">
              <a:extLst>
                <a:ext uri="{FF2B5EF4-FFF2-40B4-BE49-F238E27FC236}">
                  <a16:creationId xmlns:a16="http://schemas.microsoft.com/office/drawing/2014/main" id="{5E5F5FF4-4B78-A702-850F-00FB88099933}"/>
                </a:ext>
              </a:extLst>
            </p:cNvPr>
            <p:cNvSpPr/>
            <p:nvPr/>
          </p:nvSpPr>
          <p:spPr>
            <a:xfrm>
              <a:off x="731520" y="3804824"/>
              <a:ext cx="319826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ko-KR" altLang="en-US" sz="1300" b="1" dirty="0" err="1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관로수위계</a:t>
              </a:r>
              <a:r>
                <a:rPr lang="en-US" altLang="ko-KR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·</a:t>
              </a:r>
              <a:r>
                <a:rPr lang="ko-KR" alt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도로 </a:t>
              </a:r>
              <a:r>
                <a:rPr lang="ko-KR" altLang="en-US" sz="1300" b="1" dirty="0" err="1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침수계</a:t>
              </a:r>
              <a:endParaRPr lang="en-US" sz="1300" b="1" dirty="0">
                <a:solidFill>
                  <a:srgbClr val="23262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2" name="Text 15">
              <a:extLst>
                <a:ext uri="{FF2B5EF4-FFF2-40B4-BE49-F238E27FC236}">
                  <a16:creationId xmlns:a16="http://schemas.microsoft.com/office/drawing/2014/main" id="{4F908854-ED3E-0B61-C5FD-2F0CA0EBDC7F}"/>
                </a:ext>
              </a:extLst>
            </p:cNvPr>
            <p:cNvSpPr/>
            <p:nvPr/>
          </p:nvSpPr>
          <p:spPr>
            <a:xfrm>
              <a:off x="731520" y="4078224"/>
              <a:ext cx="1736725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ko-KR" alt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스마트 도시침수 계측센서 현장 실증을 통한 도시침수 모니터링</a:t>
              </a:r>
              <a:endParaRPr lang="en-US" altLang="ko-KR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7" name="Shape 20">
              <a:extLst>
                <a:ext uri="{FF2B5EF4-FFF2-40B4-BE49-F238E27FC236}">
                  <a16:creationId xmlns:a16="http://schemas.microsoft.com/office/drawing/2014/main" id="{9FC40DF2-7374-0D17-CF3A-E8E24B7DAAD2}"/>
                </a:ext>
              </a:extLst>
            </p:cNvPr>
            <p:cNvSpPr/>
            <p:nvPr/>
          </p:nvSpPr>
          <p:spPr>
            <a:xfrm>
              <a:off x="6215150" y="3291839"/>
              <a:ext cx="5427905" cy="1554481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2700">
              <a:solidFill>
                <a:srgbClr val="E4E1D6"/>
              </a:solidFill>
              <a:prstDash val="solid"/>
            </a:ln>
            <a:effectLst>
              <a:outerShdw blurRad="76200" dist="25400" dir="5400000" algn="bl" rotWithShape="0">
                <a:srgbClr val="8A8578">
                  <a:alpha val="22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8" name="Text 21">
              <a:extLst>
                <a:ext uri="{FF2B5EF4-FFF2-40B4-BE49-F238E27FC236}">
                  <a16:creationId xmlns:a16="http://schemas.microsoft.com/office/drawing/2014/main" id="{54010F1E-1985-3CED-459F-B065426BB13F}"/>
                </a:ext>
              </a:extLst>
            </p:cNvPr>
            <p:cNvSpPr/>
            <p:nvPr/>
          </p:nvSpPr>
          <p:spPr>
            <a:xfrm>
              <a:off x="6381674" y="3474904"/>
              <a:ext cx="3198266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13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AI </a:t>
              </a:r>
              <a:r>
                <a:rPr lang="ko-KR" altLang="en-US" sz="13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기반 </a:t>
              </a:r>
              <a:br>
                <a:rPr lang="en-US" altLang="ko-KR" sz="13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</a:br>
              <a:r>
                <a:rPr lang="ko-KR" altLang="en-US" sz="1300" b="1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하이브리드 품질관리 모델</a:t>
              </a:r>
              <a:endParaRPr lang="en-US" altLang="ko-KR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9" name="Text 22">
              <a:extLst>
                <a:ext uri="{FF2B5EF4-FFF2-40B4-BE49-F238E27FC236}">
                  <a16:creationId xmlns:a16="http://schemas.microsoft.com/office/drawing/2014/main" id="{EF302FAB-D123-20B1-1883-6B4E24116A39}"/>
                </a:ext>
              </a:extLst>
            </p:cNvPr>
            <p:cNvSpPr/>
            <p:nvPr/>
          </p:nvSpPr>
          <p:spPr>
            <a:xfrm>
              <a:off x="6381674" y="3804824"/>
              <a:ext cx="319826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IoT </a:t>
              </a:r>
              <a:r>
                <a:rPr lang="ko-KR" altLang="en-US" sz="1300" b="1" dirty="0">
                  <a:solidFill>
                    <a:srgbClr val="23262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센서 데이터</a:t>
              </a:r>
              <a:endParaRPr lang="en-US" altLang="ko-KR" sz="13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0" name="Text 23">
              <a:extLst>
                <a:ext uri="{FF2B5EF4-FFF2-40B4-BE49-F238E27FC236}">
                  <a16:creationId xmlns:a16="http://schemas.microsoft.com/office/drawing/2014/main" id="{30699315-70C2-5D25-95DC-D24465553EE2}"/>
                </a:ext>
              </a:extLst>
            </p:cNvPr>
            <p:cNvSpPr/>
            <p:nvPr/>
          </p:nvSpPr>
          <p:spPr>
            <a:xfrm>
              <a:off x="6381674" y="4078224"/>
              <a:ext cx="183776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하수관로 </a:t>
              </a:r>
              <a:r>
                <a:rPr lang="en-US" altLang="ko-KR" sz="950" dirty="0" err="1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수위·도로침수심</a:t>
              </a:r>
              <a:r>
                <a:rPr lang="ko-KR" alt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대상 딥러닝 기반 이상치 탐지</a:t>
              </a:r>
              <a:r>
                <a:rPr lang="en-US" altLang="ko-KR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·</a:t>
              </a:r>
              <a:r>
                <a:rPr lang="ko-KR" altLang="en-US" sz="950" dirty="0">
                  <a:solidFill>
                    <a:srgbClr val="6B6A5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보정</a:t>
              </a:r>
              <a:endParaRPr lang="en-US" altLang="ko-KR" sz="9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64D8E4D5-8A60-24CC-53ED-849B46E3C494}"/>
              </a:ext>
            </a:extLst>
          </p:cNvPr>
          <p:cNvGrpSpPr/>
          <p:nvPr/>
        </p:nvGrpSpPr>
        <p:grpSpPr>
          <a:xfrm>
            <a:off x="650239" y="1727830"/>
            <a:ext cx="1737360" cy="310896"/>
            <a:chOff x="650239" y="1511930"/>
            <a:chExt cx="1737360" cy="310896"/>
          </a:xfrm>
        </p:grpSpPr>
        <p:sp>
          <p:nvSpPr>
            <p:cNvPr id="93" name="Shape 2">
              <a:extLst>
                <a:ext uri="{FF2B5EF4-FFF2-40B4-BE49-F238E27FC236}">
                  <a16:creationId xmlns:a16="http://schemas.microsoft.com/office/drawing/2014/main" id="{40113380-89C1-7354-01E7-D0C2AC59CBD8}"/>
                </a:ext>
              </a:extLst>
            </p:cNvPr>
            <p:cNvSpPr/>
            <p:nvPr/>
          </p:nvSpPr>
          <p:spPr>
            <a:xfrm>
              <a:off x="650239" y="1511930"/>
              <a:ext cx="1737360" cy="310896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9050">
              <a:solidFill>
                <a:srgbClr val="2E7A6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 3">
              <a:extLst>
                <a:ext uri="{FF2B5EF4-FFF2-40B4-BE49-F238E27FC236}">
                  <a16:creationId xmlns:a16="http://schemas.microsoft.com/office/drawing/2014/main" id="{F4E9D244-5D97-9ABE-E7FF-59B947A24AD9}"/>
                </a:ext>
              </a:extLst>
            </p:cNvPr>
            <p:cNvSpPr/>
            <p:nvPr/>
          </p:nvSpPr>
          <p:spPr>
            <a:xfrm>
              <a:off x="650239" y="1511930"/>
              <a:ext cx="173736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kern="0" spc="100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URBAN FLOOD · </a:t>
              </a:r>
              <a:r>
                <a:rPr lang="ko-KR" altLang="en-US" sz="1050" b="1" kern="0" spc="100" dirty="0">
                  <a:solidFill>
                    <a:srgbClr val="2E7A6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홍수</a:t>
              </a:r>
            </a:p>
          </p:txBody>
        </p:sp>
      </p:grpSp>
      <p:pic>
        <p:nvPicPr>
          <p:cNvPr id="96" name="그림 95">
            <a:extLst>
              <a:ext uri="{FF2B5EF4-FFF2-40B4-BE49-F238E27FC236}">
                <a16:creationId xmlns:a16="http://schemas.microsoft.com/office/drawing/2014/main" id="{1D9FA440-64C9-BAB4-7666-D01EFCFA2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927" y="1740859"/>
            <a:ext cx="754380" cy="754380"/>
          </a:xfrm>
          <a:prstGeom prst="rect">
            <a:avLst/>
          </a:prstGeom>
          <a:ln>
            <a:solidFill>
              <a:srgbClr val="0D323A"/>
            </a:solidFill>
          </a:ln>
        </p:spPr>
      </p:pic>
      <p:pic>
        <p:nvPicPr>
          <p:cNvPr id="102" name="Image 2" descr="/home/claude/booth/flood_hero.jpg">
            <a:extLst>
              <a:ext uri="{FF2B5EF4-FFF2-40B4-BE49-F238E27FC236}">
                <a16:creationId xmlns:a16="http://schemas.microsoft.com/office/drawing/2014/main" id="{F53173DE-46A3-F757-16B3-0783E95A55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01350" y="1724515"/>
            <a:ext cx="843305" cy="767550"/>
          </a:xfrm>
          <a:prstGeom prst="rect">
            <a:avLst/>
          </a:prstGeom>
        </p:spPr>
      </p:pic>
      <p:sp>
        <p:nvSpPr>
          <p:cNvPr id="108" name="Shape 12">
            <a:extLst>
              <a:ext uri="{FF2B5EF4-FFF2-40B4-BE49-F238E27FC236}">
                <a16:creationId xmlns:a16="http://schemas.microsoft.com/office/drawing/2014/main" id="{B39FFA0A-8C08-7F94-F2A8-620F54296B8A}"/>
              </a:ext>
            </a:extLst>
          </p:cNvPr>
          <p:cNvSpPr/>
          <p:nvPr/>
        </p:nvSpPr>
        <p:spPr>
          <a:xfrm>
            <a:off x="8546389" y="4650740"/>
            <a:ext cx="3198266" cy="1554480"/>
          </a:xfrm>
          <a:prstGeom prst="roundRect">
            <a:avLst>
              <a:gd name="adj" fmla="val 3529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41C5247F-9718-1FAC-7888-2EFCF41601D4}"/>
              </a:ext>
            </a:extLst>
          </p:cNvPr>
          <p:cNvSpPr/>
          <p:nvPr/>
        </p:nvSpPr>
        <p:spPr>
          <a:xfrm>
            <a:off x="2671141" y="4654804"/>
            <a:ext cx="3198266" cy="1554480"/>
          </a:xfrm>
          <a:prstGeom prst="roundRect">
            <a:avLst>
              <a:gd name="adj" fmla="val 3529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E4E1D6"/>
            </a:solidFill>
            <a:prstDash val="solid"/>
          </a:ln>
          <a:effectLst>
            <a:outerShdw blurRad="76200" dist="25400" dir="5400000" algn="bl" rotWithShape="0">
              <a:srgbClr val="8A8578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31EE49D-A441-77B3-8651-25987E66C904}"/>
              </a:ext>
            </a:extLst>
          </p:cNvPr>
          <p:cNvSpPr/>
          <p:nvPr/>
        </p:nvSpPr>
        <p:spPr>
          <a:xfrm>
            <a:off x="1610360" y="364272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기후변화로 인한 집중호우 증가로 도시침수가 증가하고 있지만</a:t>
            </a:r>
            <a:r>
              <a:rPr lang="en-US" altLang="ko-KR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br>
              <a:rPr lang="en-US" altLang="ko-KR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</a:br>
            <a:r>
              <a:rPr lang="ko-KR" altLang="en-US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기존 계측장비와 </a:t>
            </a:r>
            <a:r>
              <a:rPr lang="ko-KR" altLang="en-US" sz="1150" dirty="0" err="1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육안관제로만은</a:t>
            </a:r>
            <a:r>
              <a:rPr lang="ko-KR" altLang="en-US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침수 사각지대를 신속하게 파악하기 어려우며 </a:t>
            </a:r>
            <a:r>
              <a:rPr lang="en-US" altLang="ko-KR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IoT </a:t>
            </a:r>
            <a:r>
              <a:rPr lang="ko-KR" altLang="en-US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센서 데이터의 오류로 인해 실시간 관측정보의 신뢰성이 저하됩니다</a:t>
            </a:r>
            <a:r>
              <a:rPr lang="en-US" altLang="ko-KR" sz="1150" dirty="0">
                <a:solidFill>
                  <a:srgbClr val="6B6A5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en-US" sz="1150" dirty="0">
              <a:solidFill>
                <a:srgbClr val="6B6A5E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831A5F9-A3BB-BE6D-B3DD-95E39FB1E93C}"/>
              </a:ext>
            </a:extLst>
          </p:cNvPr>
          <p:cNvSpPr/>
          <p:nvPr/>
        </p:nvSpPr>
        <p:spPr>
          <a:xfrm>
            <a:off x="1610360" y="395579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IoT </a:t>
            </a:r>
            <a:r>
              <a:rPr lang="ko-KR" alt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기반 실시간 계측 센서 데이터와 </a:t>
            </a:r>
            <a:r>
              <a:rPr lang="en-US" altLang="ko-KR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CCTV </a:t>
            </a:r>
            <a:r>
              <a:rPr lang="ko-KR" alt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영상 데이터의 결합한 새로운 도시침수 상황감시 기술 개발 및 센서 데이터의 이상치 탐지 및 보정하는 </a:t>
            </a:r>
            <a:r>
              <a:rPr lang="en-US" altLang="ko-KR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</a:t>
            </a:r>
            <a:r>
              <a:rPr lang="ko-KR" altLang="en-US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기반 품질관리 기술을 적용하여 도시침수 정보의 신뢰성을 확보하고 신속한 상황인지 및 대응을 지원했습니다</a:t>
            </a:r>
            <a:r>
              <a:rPr lang="en-US" altLang="ko-KR" sz="115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en-US" sz="115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342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8A5DA-23A4-7461-B554-EB9BBF5F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EAA0449A-4E6E-A26F-1344-1617A5D44E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715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F56221E-3EC2-C4E1-9982-37D58F56A78A}"/>
              </a:ext>
            </a:extLst>
          </p:cNvPr>
          <p:cNvSpPr/>
          <p:nvPr/>
        </p:nvSpPr>
        <p:spPr>
          <a:xfrm>
            <a:off x="0" y="0"/>
            <a:ext cx="12191999" cy="101753"/>
          </a:xfrm>
          <a:prstGeom prst="rect">
            <a:avLst/>
          </a:prstGeom>
          <a:solidFill>
            <a:srgbClr val="5C9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B9D44B-B8D8-FA10-92A2-DA04BFC6AA6E}"/>
              </a:ext>
            </a:extLst>
          </p:cNvPr>
          <p:cNvSpPr/>
          <p:nvPr/>
        </p:nvSpPr>
        <p:spPr>
          <a:xfrm>
            <a:off x="-1" y="6756247"/>
            <a:ext cx="12191999" cy="101753"/>
          </a:xfrm>
          <a:prstGeom prst="rect">
            <a:avLst/>
          </a:prstGeom>
          <a:solidFill>
            <a:srgbClr val="0D3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EED2B33-541F-CB22-0E50-ADB657812DB0}"/>
              </a:ext>
            </a:extLst>
          </p:cNvPr>
          <p:cNvGrpSpPr/>
          <p:nvPr/>
        </p:nvGrpSpPr>
        <p:grpSpPr>
          <a:xfrm>
            <a:off x="2829446" y="2539775"/>
            <a:ext cx="6533109" cy="1473426"/>
            <a:chOff x="2096867" y="2539775"/>
            <a:chExt cx="6533109" cy="147342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643DB03-1B39-0029-6996-74594700E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6867" y="2539776"/>
              <a:ext cx="4669420" cy="147342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361580D-19E9-2AD4-F4C0-96CA8EB64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6551" y="2539775"/>
              <a:ext cx="1473425" cy="1473425"/>
            </a:xfrm>
            <a:prstGeom prst="rect">
              <a:avLst/>
            </a:prstGeom>
            <a:ln>
              <a:solidFill>
                <a:srgbClr val="0D323A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60032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669</TotalTime>
  <Words>493</Words>
  <Application>Microsoft Macintosh PowerPoint</Application>
  <PresentationFormat>와이드스크린</PresentationFormat>
  <Paragraphs>74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KoPubWorld돋움체 Bold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다솜 허</dc:creator>
  <cp:lastModifiedBy>이정석</cp:lastModifiedBy>
  <cp:revision>11</cp:revision>
  <cp:lastPrinted>2026-07-10T06:12:47Z</cp:lastPrinted>
  <dcterms:created xsi:type="dcterms:W3CDTF">2026-07-09T00:52:37Z</dcterms:created>
  <dcterms:modified xsi:type="dcterms:W3CDTF">2026-07-18T02:31:06Z</dcterms:modified>
</cp:coreProperties>
</file>